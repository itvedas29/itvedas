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x-fontdata" PartName="/ppt/fonts/font9.fntdata"/>
  <Override ContentType="application/x-fontdata" PartName="/ppt/fonts/font10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9144000" cy="5143500"/>
  <p:embeddedFontLst>
    <p:embeddedFont>
      <p:font typeface="Zoho Puvi"/>
      <p:regular r:id="rId24"/>
      <p:bold r:id="rId28"/>
    </p:embeddedFont>
    <p:embeddedFont>
      <p:font typeface="Roboto"/>
      <p:regular r:id="rId29"/>
      <p:bold r:id="rId30"/>
    </p:embeddedFont>
    <p:embeddedFont>
      <p:font typeface="Zoho Puvi-demi_bold"/>
      <p:regular r:id="rId25"/>
    </p:embeddedFont>
    <p:embeddedFont>
      <p:font typeface="Zoho Puvi-heavy"/>
      <p:regular r:id="rId27"/>
    </p:embeddedFont>
    <p:embeddedFont>
      <p:font typeface="Open Sans-demi_bold"/>
      <p:regular r:id="rId32"/>
    </p:embeddedFont>
    <p:embeddedFont>
      <p:font typeface="Open Sans"/>
      <p:regular r:id="rId31"/>
      <p:bold r:id="rId33"/>
    </p:embeddedFont>
  </p:embeddedFontLst>
  <p:custDataLst>
    <p:tags r:id="rId34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slides/slide16.xml" Type="http://schemas.openxmlformats.org/officeDocument/2006/relationships/slide"/><Relationship Id="rId21" Target="slides/slide17.xml" Type="http://schemas.openxmlformats.org/officeDocument/2006/relationships/slide"/><Relationship Id="rId22" Target="slides/slide18.xml" Type="http://schemas.openxmlformats.org/officeDocument/2006/relationships/slide"/><Relationship Id="rId23" Target="tableStyles.xml" Type="http://schemas.openxmlformats.org/officeDocument/2006/relationships/tableStyles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26" Target="fonts/font3.fntdata" Type="http://schemas.openxmlformats.org/officeDocument/2006/relationships/font"/><Relationship Id="rId27" Target="fonts/font4.fntdata" Type="http://schemas.openxmlformats.org/officeDocument/2006/relationships/font"/><Relationship Id="rId28" Target="fonts/font5.fntdata" Type="http://schemas.openxmlformats.org/officeDocument/2006/relationships/font"/><Relationship Id="rId29" Target="fonts/font6.fntdata" Type="http://schemas.openxmlformats.org/officeDocument/2006/relationships/font"/><Relationship Id="rId30" Target="fonts/font7.fntdata" Type="http://schemas.openxmlformats.org/officeDocument/2006/relationships/font"/><Relationship Id="rId31" Target="fonts/font8.fntdata" Type="http://schemas.openxmlformats.org/officeDocument/2006/relationships/font"/><Relationship Id="rId32" Target="fonts/font9.fntdata" Type="http://schemas.openxmlformats.org/officeDocument/2006/relationships/font"/><Relationship Id="rId33" Target="fonts/font10.fntdata" Type="http://schemas.openxmlformats.org/officeDocument/2006/relationships/font"/><Relationship Id="rId34" Target="tags/tag3.xml" Type="http://schemas.openxmlformats.org/officeDocument/2006/relationships/tags"/><Relationship Id="rId35" Target="presProps.xml" Type="http://schemas.openxmlformats.org/officeDocument/2006/relationships/presProps"/><Relationship Id="rId36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76CF4AA-18C1-45A3-84A0-445121482986}">
                <a16:creationId xmlns:a16="http://schemas.microsoft.com/office/drawing/2010/main" id="{5609E48D-00FF-4332-A22E-E5D59B40339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A1F6D52B-6DFB-49EF-BEEB-7013ED1BD039}">
                <a16:creationId xmlns:a16="http://schemas.microsoft.com/office/drawing/2010/main" id="{9514B5E0-3081-4567-AAE9-F9FFC9DCE5E4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E126797C-9E14-433E-9D88-AD56E79781A6}">
                <a16:creationId xmlns:a16="http://schemas.microsoft.com/office/drawing/2010/main" id="{73A98CFC-0BF9-40A3-AEA7-CC602874FEF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1E78AE86-714B-49DE-AE73-563A4D9B2971}">
                <a16:creationId xmlns:a16="http://schemas.microsoft.com/office/drawing/2010/main" id="{DA28DAD6-2831-4459-ABE4-C39DDC66729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DFC3D487-54F2-4F3C-96F9-AFA3FF0901C3}">
                <a16:creationId xmlns:a16="http://schemas.microsoft.com/office/drawing/2010/main" id="{AA84BE08-A826-48F9-98EE-F5BBE4A3181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BC37E90-9E6A-4C79-80F6-83D380FEAACE}">
        <p14:creationId xmlns:p14="http://schemas.microsoft.com/office/powerpoint/2010/main" val="173496210375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3D67E8F-F3E2-4175-BE1C-771E66914830}">
                <a16:creationId xmlns:a16="http://schemas.microsoft.com/office/drawing/2010/main" id="{2E4D15C9-8545-42D1-87C1-DFE80C5F7B8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6B204AD4-1767-4B2A-A1CD-14E10D73916F}">
                <a16:creationId xmlns:a16="http://schemas.microsoft.com/office/drawing/2010/main" id="{15D00A9C-A093-4F75-A3AC-F26FEB1BE33E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BE425215-267E-4F48-B0F1-777E42795754}">
                <a16:creationId xmlns:a16="http://schemas.microsoft.com/office/drawing/2010/main" id="{368D369F-D016-4365-9C41-45A138ED5F8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67DF57F0-2121-4434-A237-2748A3F5F266}">
                <a16:creationId xmlns:a16="http://schemas.microsoft.com/office/drawing/2010/main" id="{DD598D3E-40A4-4F3E-BF30-6CE175BC1AC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B927A54E-D243-458B-8136-62F10F1E8035}">
                <a16:creationId xmlns:a16="http://schemas.microsoft.com/office/drawing/2010/main" id="{5EBB2038-A914-45D7-AB57-330B156F036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66FDD712-F189-4394-BDFA-7253ED66DD78}">
                <a16:creationId xmlns:a16="http://schemas.microsoft.com/office/drawing/2010/main" id="{6DCF6833-9D45-4871-962F-02E972DE4104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45260971-DA6B-49AD-BB13-FB63329ACDA4}">
        <p14:creationId xmlns:p14="http://schemas.microsoft.com/office/powerpoint/2010/main" val="173496210375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4C644262-7B93-41BD-A297-6C126388D963}">
                <a16:creationId xmlns:a16="http://schemas.microsoft.com/office/drawing/2010/main" id="{7FD71C52-4347-47EF-B941-64DFFFFC52D6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F3A67F94-6078-4CBA-9C3A-B066200F1431}">
                <a16:creationId xmlns:a16="http://schemas.microsoft.com/office/drawing/2010/main" id="{1AAFA445-9244-4332-956F-769EC661D8BD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FE8720E2-211B-4AE7-89A0-CBBEDA575AFD}">
                <a16:creationId xmlns:a16="http://schemas.microsoft.com/office/drawing/2010/main" id="{7D4E4834-0914-4D2E-9E0B-1D3B1DC41F3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4158CD9F-832B-4761-A8A9-90EF01A30B66}">
                <a16:creationId xmlns:a16="http://schemas.microsoft.com/office/drawing/2010/main" id="{87E542FE-1C6D-4105-A22D-DA7F50CC96C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95CEC382-9A97-4E22-9A72-5425730AA75E}">
                <a16:creationId xmlns:a16="http://schemas.microsoft.com/office/drawing/2010/main" id="{01E83599-4989-4D90-A99B-132B4491101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07FB8A77-04E0-42E2-B7C7-CF5F7B9A9612}">
                <a16:creationId xmlns:a16="http://schemas.microsoft.com/office/drawing/2010/main" id="{C26E0FF8-88BE-4E7F-B545-EF666D0364AF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88032475-5AB3-448B-A11B-35E8B8673AEE}">
        <p14:creationId xmlns:p14="http://schemas.microsoft.com/office/powerpoint/2010/main" val="173496210375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728475E7-AC74-4AF1-A160-142693E29722}">
                <a16:creationId xmlns:a16="http://schemas.microsoft.com/office/drawing/2010/main" id="{7FF47A0C-7DD0-4AAE-9C69-2127E9BD57F3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903A9595-B618-4433-8F2E-1437864277B0}">
                <a16:creationId xmlns:a16="http://schemas.microsoft.com/office/drawing/2010/main" id="{1EE11446-A726-420F-AACC-DDCE8AE3DA4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1DE44EDA-66CA-47F6-B72B-28E0687277A5}">
                <a16:creationId xmlns:a16="http://schemas.microsoft.com/office/drawing/2010/main" id="{FCEE8F01-013E-41FE-B4CA-8265A49A506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B6C9CA00-58F0-4148-9D78-DB4ED8B83162}">
                <a16:creationId xmlns:a16="http://schemas.microsoft.com/office/drawing/2010/main" id="{CDAC287E-7BA0-4D5E-BD46-AF998BDC8A0E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FC561276-6F68-4F1C-86B8-1DB805C133A8}">
                <a16:creationId xmlns:a16="http://schemas.microsoft.com/office/drawing/2010/main" id="{46C81036-AD13-400A-8AF0-D656DBDC429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8B310CDA-6D2F-4474-AD69-9B525FEBB2E4}">
                <a16:creationId xmlns:a16="http://schemas.microsoft.com/office/drawing/2010/main" id="{C71173E2-E831-48D2-A43F-DA7F8CCA7D2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5631F250-BD5A-46BB-9523-945CE07E7B90}">
                <a16:creationId xmlns:a16="http://schemas.microsoft.com/office/drawing/2010/main" id="{DF184429-4E43-4071-B9D5-CE96B92FEC6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31F9B132-177B-4085-9088-DF2C4472244B}">
        <p14:creationId xmlns:p14="http://schemas.microsoft.com/office/powerpoint/2010/main" val="173496210375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96C694B5-53C9-48E6-BD1C-168EBAFFC937}">
                <a16:creationId xmlns:a16="http://schemas.microsoft.com/office/drawing/2010/main" id="{842F03B5-A8CC-4A77-974A-68D78C1418F9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B185CD8E-0EB8-4B9F-9A1D-A27B69333995}">
                <a16:creationId xmlns:a16="http://schemas.microsoft.com/office/drawing/2010/main" id="{AB820A71-B7C7-48A2-A450-BFE8300A14E1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790493E2-D686-4569-AD0E-4FB8EB7A3B99}">
                <a16:creationId xmlns:a16="http://schemas.microsoft.com/office/drawing/2010/main" id="{2E22E15C-000A-4456-B6AE-3E9C24A5CF5D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4F56DF9B-BA76-4256-9585-D3475F8F8C5F}">
                <a16:creationId xmlns:a16="http://schemas.microsoft.com/office/drawing/2010/main" id="{C0D9FFB9-B112-4B09-BA74-B06FFCEF2F9F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62E421B4-9436-46EB-9309-D200D85F456C}">
                <a16:creationId xmlns:a16="http://schemas.microsoft.com/office/drawing/2010/main" id="{C98FEBE4-0BB1-4EB8-AD07-086EEB5A428F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719965B0-EF42-4063-995C-BDB434240B45}">
                <a16:creationId xmlns:a16="http://schemas.microsoft.com/office/drawing/2010/main" id="{46A4BCEA-ED72-463F-BEA9-81D2B3D01FA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7204D1A4-2D00-4C72-9C88-6083809FA042}">
                <a16:creationId xmlns:a16="http://schemas.microsoft.com/office/drawing/2010/main" id="{B6BF580D-3816-4CFF-A150-7FC4901C5D2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0234A8FA-FE9C-4CBF-BA59-1D05A5D125C9}">
                <a16:creationId xmlns:a16="http://schemas.microsoft.com/office/drawing/2010/main" id="{B060DC35-02F3-457F-8DAE-5087C11ED7C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B4448F37-8462-4BDC-8A39-1176FA718710}">
        <p14:creationId xmlns:p14="http://schemas.microsoft.com/office/powerpoint/2010/main" val="1734962103760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FDBECC2-919B-4A36-8CE2-C5D57F614529}">
                <a16:creationId xmlns:a16="http://schemas.microsoft.com/office/drawing/2010/main" id="{A079BAB2-DEB6-4091-B64D-6C7D9A50EBB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A8B5649B-955F-48C4-A0D9-FDFF3FED8DA3}">
                <a16:creationId xmlns:a16="http://schemas.microsoft.com/office/drawing/2010/main" id="{0E87177C-BF37-4E78-9A5E-C2F9D7282A5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8B6D7CC5-E5C0-4731-A4AC-CFBFC426DA44}">
                <a16:creationId xmlns:a16="http://schemas.microsoft.com/office/drawing/2010/main" id="{A620F930-0D1B-4918-9113-A7A3409DA5E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71DECBFF-5132-4C91-AB3E-1A30C8503BBF}">
                <a16:creationId xmlns:a16="http://schemas.microsoft.com/office/drawing/2010/main" id="{DD4D25F4-DFB8-4794-96CC-AA3F0F04B13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64644156-71F6-4A00-A6BA-D40C8D1A0FD6}">
                <a16:creationId xmlns:a16="http://schemas.microsoft.com/office/drawing/2010/main" id="{6582003E-F367-4E79-A6DD-C361C456EF50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BC670652-D248-43D0-9AA6-9FA051ECADEA}">
        <p14:creationId xmlns:p14="http://schemas.microsoft.com/office/powerpoint/2010/main" val="173496210376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B253B295-BCAF-4AAE-A035-CC1D8F954A14}">
                <a16:creationId xmlns:a16="http://schemas.microsoft.com/office/drawing/2010/main" id="{B6D477E1-02D2-4FF8-BE33-2D806453D25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4B36E991-D560-4927-8E3D-2BF35CC955A5}">
                <a16:creationId xmlns:a16="http://schemas.microsoft.com/office/drawing/2010/main" id="{92843EC4-3395-40F5-9AAA-7D826A57E3F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76F5743A-C7C6-41B4-BD00-122DF61A105B}">
                <a16:creationId xmlns:a16="http://schemas.microsoft.com/office/drawing/2010/main" id="{D5CAC1A5-3509-4777-B248-1D2124CF227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F8B1D8CA-C583-44B8-8CCD-F3934A7CABE6}">
        <p14:creationId xmlns:p14="http://schemas.microsoft.com/office/powerpoint/2010/main" val="173496210376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EEC45F0-3A96-445B-A203-B40689575499}">
                <a16:creationId xmlns:a16="http://schemas.microsoft.com/office/drawing/2010/main" id="{E95C179B-3EFC-46CF-96C0-0BCCFB6B9DE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213469E1-1E47-47CA-B60D-0B14C8B0118F}">
                <a16:creationId xmlns:a16="http://schemas.microsoft.com/office/drawing/2010/main" id="{1152A77D-5442-4988-84F3-EB49872747D0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221E7BF0-E10F-437B-A3DC-7E28CA53DC26}">
                <a16:creationId xmlns:a16="http://schemas.microsoft.com/office/drawing/2010/main" id="{58BEE447-EA08-4530-9282-0D10CFD34549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5A399715-AFC2-4791-AE83-65B723A49C0C}">
                <a16:creationId xmlns:a16="http://schemas.microsoft.com/office/drawing/2010/main" id="{016D967A-B3F3-491A-8896-2489E1B6230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E2D2CD8E-8197-49FA-84A1-811AF1EDF379}">
                <a16:creationId xmlns:a16="http://schemas.microsoft.com/office/drawing/2010/main" id="{23150360-046F-448D-A267-A5849105EB6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D9916C67-10C1-4202-A85C-E5F7E5A1146E}">
                <a16:creationId xmlns:a16="http://schemas.microsoft.com/office/drawing/2010/main" id="{AFF7723C-4EC3-4585-8724-6F259ECA1B5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7266952-1BE4-4F21-9656-8BDB05AAB2B6}">
        <p14:creationId xmlns:p14="http://schemas.microsoft.com/office/powerpoint/2010/main" val="1734962103763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580BB712-539A-47F4-8BEB-055A792BE66E}">
                <a16:creationId xmlns:a16="http://schemas.microsoft.com/office/drawing/2010/main" id="{044699F6-E0ED-41CC-A0EB-E7F8E3DDC58F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420D20D1-B774-4970-AB11-E01B339F9D62}">
                <a16:creationId xmlns:a16="http://schemas.microsoft.com/office/drawing/2010/main" id="{B515BD5A-D496-409F-BA05-C1F445B4CD4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CD782497-720D-44CC-B9FB-273D1871CBBF}">
                <a16:creationId xmlns:a16="http://schemas.microsoft.com/office/drawing/2010/main" id="{AE4BC81F-B439-48B7-965C-315CE4EDA33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A45A4208-C63D-47F4-91E3-B5F50777A865}">
                <a16:creationId xmlns:a16="http://schemas.microsoft.com/office/drawing/2010/main" id="{FE44C878-F53D-454E-AC3B-D4A314635D88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F1B3C6B2-0910-4C21-9D52-D78B44874F80}">
                <a16:creationId xmlns:a16="http://schemas.microsoft.com/office/drawing/2010/main" id="{4102CF82-9E63-4E1B-9C0C-132866BC5DF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380C4F73-F34C-46FB-8461-189EB12334EE}">
                <a16:creationId xmlns:a16="http://schemas.microsoft.com/office/drawing/2010/main" id="{6571E5A6-40A8-4E58-A386-6ACA5654D9D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CA8FAB10-624D-4777-A433-77490BA1ED0A}">
                <a16:creationId xmlns:a16="http://schemas.microsoft.com/office/drawing/2010/main" id="{8C54E420-CCED-47C5-B01B-D1E3EB19CD7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09FC056A-4D1E-43C4-BFD8-499D8624E430}">
        <p14:creationId xmlns:p14="http://schemas.microsoft.com/office/powerpoint/2010/main" val="1734962103764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A97C8A0E-EACC-402D-AEF0-523CFA5E32FB}">
                <a16:creationId xmlns:a16="http://schemas.microsoft.com/office/drawing/2010/main" id="{377AFD5D-A744-4DB4-A808-846A8CDF06E5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F7B48418-0E5C-4023-875C-D6B28A3F8E16}">
                <a16:creationId xmlns:a16="http://schemas.microsoft.com/office/drawing/2010/main" id="{984AFA30-24F3-4E06-BE73-173DF2BAE634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7B491141-10C3-4745-AA3A-E5F5E483ECC2}">
                <a16:creationId xmlns:a16="http://schemas.microsoft.com/office/drawing/2010/main" id="{6FBA39EF-A7BC-4145-842C-5755E9F583AA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17694EB9-F48C-4B14-A257-17275DC8E414}">
                <a16:creationId xmlns:a16="http://schemas.microsoft.com/office/drawing/2010/main" id="{140FB63E-886F-4063-83EC-9C749E5C2D8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0905B45F-BD92-417F-B187-5F4164D45B56}">
                <a16:creationId xmlns:a16="http://schemas.microsoft.com/office/drawing/2010/main" id="{7C157D90-500B-47DD-8B1C-900EBF5EFE11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9F5EAA87-6858-4408-B878-48E27108D2FF}">
                <a16:creationId xmlns:a16="http://schemas.microsoft.com/office/drawing/2010/main" id="{0F0A8E94-5F6D-450F-8A80-7CEE69D8AF0B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2037923F-5D36-4723-92F1-765911578114}">
                <a16:creationId xmlns:a16="http://schemas.microsoft.com/office/drawing/2010/main" id="{50B129A7-4B4D-48B6-8B23-A8660401D5E9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DC8BF73B-0420-4BCE-AAF8-6AF5800E44D4}">
                <a16:creationId xmlns:a16="http://schemas.microsoft.com/office/drawing/2010/main" id="{7E1DC42F-532D-4035-A87E-5B42D3906A9A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1D0AFBE5-E048-4269-B181-1AB6EBF3353D}">
                <a16:creationId xmlns:a16="http://schemas.microsoft.com/office/drawing/2010/main" id="{0755CF75-81D4-4331-890B-69CB72978599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3A2FF5CE-7F3E-43E2-8854-6ED4574ED7EF}">
                <a16:creationId xmlns:a16="http://schemas.microsoft.com/office/drawing/2010/main" id="{BD7CF2E8-6EC7-48E2-A0B1-C7F96A8758C1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F4EEB586-8B40-46AF-B5FA-CDD29A7E122B}">
                <a16:creationId xmlns:a16="http://schemas.microsoft.com/office/drawing/2010/main" id="{D4AE24E6-9FFB-4A5C-A5DF-6EF689B6B74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EE445B74-51B4-4A47-874F-554A04E3A23E}">
                <a16:creationId xmlns:a16="http://schemas.microsoft.com/office/drawing/2010/main" id="{1C0D3655-7854-449B-AC0F-DF19F2D99C6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8C36DC75-7502-4C51-88EA-3BC7EB2D6083}">
                <a16:creationId xmlns:a16="http://schemas.microsoft.com/office/drawing/2010/main" id="{4C051A53-F171-4F75-9C67-8ED8D27AB67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30A33455-7C58-4FCF-B9DC-7161447043B1}">
        <p14:creationId xmlns:p14="http://schemas.microsoft.com/office/powerpoint/2010/main" val="173496210376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91F71E2-BADC-40DD-9D2D-5FE6B64D250F}">
                <a16:creationId xmlns:a16="http://schemas.microsoft.com/office/drawing/2010/main" id="{EA391B07-077F-4F40-963C-86972A3F330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9DFC06AB-68C2-4D81-AC64-135794D12D8E}">
                <a16:creationId xmlns:a16="http://schemas.microsoft.com/office/drawing/2010/main" id="{3DD4B3A7-5FB6-4D8A-94AD-7F537281F44F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8881A50E-2307-4F5B-9548-2FCA7A89E3D6}">
                <a16:creationId xmlns:a16="http://schemas.microsoft.com/office/drawing/2010/main" id="{AFA9F4E1-EEA8-401B-A2A3-129DD6781A83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E662F8F4-4DEA-4895-9E4B-E5D9FA7F7852}">
                <a16:creationId xmlns:a16="http://schemas.microsoft.com/office/drawing/2010/main" id="{A726F3F9-33EC-4866-B5F7-254E2C018CC9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F4B3B182-E210-4210-97B5-4E0FA4950D9C}">
                <a16:creationId xmlns:a16="http://schemas.microsoft.com/office/drawing/2010/main" id="{1ED4D863-A958-4677-BCD2-7092E3A44DFD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80FD18A5-7F30-4CC2-905B-D44F969155C5}">
                <a16:creationId xmlns:a16="http://schemas.microsoft.com/office/drawing/2010/main" id="{299AF5C5-90CF-46E8-88A2-4FA5BE66A9F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B6144B65-15F2-42E8-BDF7-D5FE177C9E8C}">
                <a16:creationId xmlns:a16="http://schemas.microsoft.com/office/drawing/2010/main" id="{57FEDCDD-BBE1-4D5F-A653-70592B70060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D8CD19A6-5734-4AA4-AF6E-30FA4D07AC5C}">
                <a16:creationId xmlns:a16="http://schemas.microsoft.com/office/drawing/2010/main" id="{3A637510-618E-4C3A-AC28-10C8E2C437E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99A4EE84-0235-4F10-8148-240CED4ECECD}">
        <p14:creationId xmlns:p14="http://schemas.microsoft.com/office/powerpoint/2010/main" val="1734962103767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529ECF26-D76E-4FCD-80FB-FBB74F399EC6}">
                <a16:creationId xmlns:a16="http://schemas.microsoft.com/office/drawing/2010/main" id="{22A1A1CC-DDE7-44EF-9663-7C1CF6AA0EE1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DD1D3DB9-B91C-4CF3-B59B-69810C4168CA}">
                <a16:creationId xmlns:a16="http://schemas.microsoft.com/office/drawing/2010/main" id="{A4954F12-3650-4EE2-B0AB-D7583B4BC6D0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FD311D1F-5236-4AF8-9639-8B73491FDD5A}">
                <a16:creationId xmlns:a16="http://schemas.microsoft.com/office/drawing/2010/main" id="{C623EB1C-0E5F-4875-9A22-23C95D349247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3371F13F-E9C9-4371-9CDB-C0D7D1598D29}">
                <a16:creationId xmlns:a16="http://schemas.microsoft.com/office/drawing/2010/main" id="{B1EE51F7-D238-492D-A6C0-DF071A8A2400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5499349B-C27A-4AE8-BB19-85DF26D44938}">
                <a16:creationId xmlns:a16="http://schemas.microsoft.com/office/drawing/2010/main" id="{367881E0-A9E9-4D71-930D-F691370C8B90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149F5362-C798-40C0-8647-FB3E61FAD061}">
                <a16:creationId xmlns:a16="http://schemas.microsoft.com/office/drawing/2010/main" id="{94E89B77-DF21-422B-9982-39B4FB21DBA6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BD65184D-6845-46A7-8921-033E6CD85874}">
                <a16:creationId xmlns:a16="http://schemas.microsoft.com/office/drawing/2010/main" id="{FCAB1946-4E66-4137-8852-0FE4A6898EBB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F680884E-57C9-4136-B6D2-FF2DBF853D96}">
                <a16:creationId xmlns:a16="http://schemas.microsoft.com/office/drawing/2010/main" id="{A1BA85AC-9D38-4421-9047-FDF7EF9D2901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7FD7CCA1-47B7-4A6F-A539-8CD1C5AAC43F}">
                <a16:creationId xmlns:a16="http://schemas.microsoft.com/office/drawing/2010/main" id="{D5D3ED5A-FFDA-4B65-86CF-8D3BDF4EAC09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C47F7A15-D436-4315-8899-C9BB42B11FA9}">
                <a16:creationId xmlns:a16="http://schemas.microsoft.com/office/drawing/2010/main" id="{4A067896-0534-4CEF-9ECA-B510B114CB5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50D1813A-6E24-4F91-8143-FB7F73EE2F2B}">
                <a16:creationId xmlns:a16="http://schemas.microsoft.com/office/drawing/2010/main" id="{7F9A1590-6FE9-4CD3-AA19-BE920F5B35F1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19A9C976-2D31-49CF-9CB7-CC4888B6D3EA}">
                <a16:creationId xmlns:a16="http://schemas.microsoft.com/office/drawing/2010/main" id="{D7071920-7250-45DF-B99A-D7AC7B30C71A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53808854-84D8-4A36-8829-EC5D0B4D7412}">
                <a16:creationId xmlns:a16="http://schemas.microsoft.com/office/drawing/2010/main" id="{A5909175-3A25-4F35-AEAA-A92B99F78F76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12DD29A6-6C7A-4349-9265-936798FCF558}">
                <a16:creationId xmlns:a16="http://schemas.microsoft.com/office/drawing/2010/main" id="{DDEC542D-5EA8-4336-A558-1F307B9A6338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products/ad-manager/" TargetMode="External" Type="http://schemas.openxmlformats.org/officeDocument/2006/relationships/hyperlink"/><Relationship Id="rId3" Target="https://www.manageengine.com/products/ad-manager/" TargetMode="External" Type="http://schemas.openxmlformats.org/officeDocument/2006/relationships/hyperlink"/><Relationship Id="rId4" Target="https://www.manageengine.com/active-directory-manager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https://www.manageengine.com/products/active-directory-audit/" TargetMode="External" Type="http://schemas.openxmlformats.org/officeDocument/2006/relationships/hyperlink"/><Relationship Id="rId3" Target="https://www.manageengine.com/products/active-directory-audi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https://www.manageengine.com/products/self-service-password/" TargetMode="External" Type="http://schemas.openxmlformats.org/officeDocument/2006/relationships/hyperlink"/><Relationship Id="rId3" Target="https://www.manageengine.com/products/self-service-password/" TargetMode="External" Type="http://schemas.openxmlformats.org/officeDocument/2006/relationships/hyperlink"/><Relationship Id="rId4" Target="https://www.manageengine.com/products/self-service-password/" TargetMode="External" Type="http://schemas.openxmlformats.org/officeDocument/2006/relationships/hyperlink"/><Relationship Id="rId5" Target="https://www.manageengine.com/products/self-service-password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https://www.manageengine.com/products/exchange-reports/" TargetMode="External" Type="http://schemas.openxmlformats.org/officeDocument/2006/relationships/hyperlink"/><Relationship Id="rId3" Target="https://www.manageengine.com/products/exchange-reports/" TargetMode="External" Type="http://schemas.openxmlformats.org/officeDocument/2006/relationships/hyperlink"/><Relationship Id="rId4" Target="https://www.manageengine.com/products/exchange-reports/" TargetMode="External" Type="http://schemas.openxmlformats.org/officeDocument/2006/relationships/hyperlink"/><Relationship Id="rId5" Target="https://www.manageengine.com/products/exchange-reports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https://www.manageengine.com/ad-recovery-manager/" TargetMode="External" Type="http://schemas.openxmlformats.org/officeDocument/2006/relationships/hyperlink"/><Relationship Id="rId3" Target="https://www.manageengine.com/ad-recovery-manager/" TargetMode="External" Type="http://schemas.openxmlformats.org/officeDocument/2006/relationships/hyperlink"/><Relationship Id="rId4" Target="https://www.manageengine.com/ad-recovery-manager/" TargetMode="External" Type="http://schemas.openxmlformats.org/officeDocument/2006/relationships/hyperlink"/><Relationship Id="rId5" Target="https://www.manageengine.com/ad-recovery-manag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https://www.manageengine.com/active-directory-360/" TargetMode="External" Type="http://schemas.openxmlformats.org/officeDocument/2006/relationships/hyperlink"/><Relationship Id="rId3" Target="https://www.manageengine.com/active-directory-360/" TargetMode="External" Type="http://schemas.openxmlformats.org/officeDocument/2006/relationships/hyperlink"/><Relationship Id="rId4" Target="https://www.manageengine.com/active-directory-360/" TargetMode="External" Type="http://schemas.openxmlformats.org/officeDocument/2006/relationships/hyperlink"/><Relationship Id="rId5" Target="https://www.manageengine.com/active-directory-360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2" Target="https://www.manageengine.com/identity-360/" TargetMode="External" Type="http://schemas.openxmlformats.org/officeDocument/2006/relationships/hyperlink"/><Relationship Id="rId3" Target="https://www.manageengine.com/identity-360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2" Target="https://www.manageengine.com/microsoft-365-management-reporting/" TargetMode="External" Type="http://schemas.openxmlformats.org/officeDocument/2006/relationships/hyperlink"/><Relationship Id="rId3" Target="https://www.manageengine.com/microsoft-365-management-reporting/" TargetMode="External" Type="http://schemas.openxmlformats.org/officeDocument/2006/relationships/hyperlink"/><Relationship Id="rId4" Target="https://www.manageengine.com/microsoft-365-management-reporting/" TargetMode="External" Type="http://schemas.openxmlformats.org/officeDocument/2006/relationships/hyperlink"/><Relationship Id="rId5" Target="https://www.manageengine.com/microsoft-365-management-reporting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2" Target="https://www.manageengine.com/privileged-access-management/" TargetMode="External" Type="http://schemas.openxmlformats.org/officeDocument/2006/relationships/hyperlink"/><Relationship Id="rId3" Target="https://www.manageengine.com/privileged-access-management/" TargetMode="External" Type="http://schemas.openxmlformats.org/officeDocument/2006/relationships/hyperlink"/><Relationship Id="rId4" Target="https://www.manageengine.com/privileged-access-management/" TargetMode="External" Type="http://schemas.openxmlformats.org/officeDocument/2006/relationships/hyperlink"/><Relationship Id="rId5" Target="https://www.manageengine.com/privileged-access-management/" TargetMode="External" Type="http://schemas.openxmlformats.org/officeDocument/2006/relationships/hyperlink"/><Relationship Id="rId6" Target="https://www.manageengine.com/privileged-access-management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2" Target="https://www.manageengine.com/products/passwordmanagerpro/" TargetMode="External" Type="http://schemas.openxmlformats.org/officeDocument/2006/relationships/hyperlink"/><Relationship Id="rId3" Target="https://www.manageengine.com/products/passwordmanagerpro/password-management-msp.html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2" Target="https://www.manageengine.com/privileged-session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2" Target="https://www.manageengine.com/key-manag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65366A52-71F7-4A56-9E43-FBA5EFDEBDB3}">
                <a16:creationId xmlns:a16="http://schemas.microsoft.com/office/drawing/2010/main" id="{C12E178B-1ECA-4C14-B129-546DC4BD9265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05DDFAE2-794D-4DAD-B234-7B00AD1F20ED}">
                <a16:creationId xmlns:a16="http://schemas.microsoft.com/office/drawing/2010/main" id="{348BCD6C-A3BB-4D3D-846F-45B531C6223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37768" y="1981552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/>
            </a:r>
          </a:p>
          <a:p>
            <a:pPr algn="ctr"/>
            <a:r>
              <a:rPr b="1" dirty="0" lang="en-US" sz="2800">
                <a:latin typeface="Zoho Puvi-heavy"/>
              </a:rPr>
              <a:t/>
            </a:r>
          </a:p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Identity and access management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64740100-80CD-4751-900B-C7FF86F78307}">
                <a16:creationId xmlns:a16="http://schemas.microsoft.com/office/drawing/2010/main" id="{7A64C2F1-69A6-4FED-A618-B4E531EE652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FCBAF139-2955-45EE-9E92-F58F38F9299B}">
        <p14:creationId xmlns:p14="http://schemas.microsoft.com/office/powerpoint/2010/main" val="1734962103770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D4BE163-EB3E-471D-B1F0-FFF32460200E}">
                <a16:creationId xmlns:a16="http://schemas.microsoft.com/office/drawing/2010/main" id="{2ED40239-B42B-41BD-A951-FEEC32BF615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764144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chemeClr val="accent2"/>
                </a:solidFill>
                <a:latin typeface="Zoho Puvi-heavy"/>
              </a:rPr>
              <a:t>Identity and </a:t>
            </a:r>
            <a:br>
              <a:rPr b="1" dirty="0" lang="en-US" sz="2400">
                <a:solidFill>
                  <a:schemeClr val="accent2"/>
                </a:solidFill>
                <a:latin typeface="Zoho Puvi-heavy"/>
              </a:rPr>
            </a:br>
            <a:r>
              <a:rPr b="1" dirty="0" lang="en-US" sz="2400">
                <a:solidFill>
                  <a:schemeClr val="accent2"/>
                </a:solidFill>
                <a:latin typeface="Zoho Puvi-heavy"/>
              </a:rPr>
              <a:t>access management</a:t>
            </a:r>
            <a:endParaRPr b="1" dirty="0" lang="en-US" sz="2400">
              <a:solidFill>
                <a:schemeClr val="accent2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59A44CC6-9DB8-402D-AAA6-44DD40983318}">
                <a16:creationId xmlns:a16="http://schemas.microsoft.com/office/drawing/2010/main" id="{14197770-0B49-422E-BEAA-90C6FF6228FB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762000" y="2487892"/>
            <a:ext cx="7620000" cy="755018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b="0" dirty="0" lang="en-US" sz="1200">
                <a:solidFill>
                  <a:schemeClr val="bg1"/>
                </a:solidFill>
                <a:latin typeface="Zoho Puvi"/>
              </a:rPr>
              <a:t>Manage, govern, and secure digital </a:t>
            </a:r>
            <a:br>
              <a:rPr b="0" dirty="0" lang="en-US" sz="1200">
                <a:solidFill>
                  <a:schemeClr val="bg1"/>
                </a:solidFill>
                <a:latin typeface="Zoho Puvi"/>
              </a:rPr>
            </a:br>
            <a:r>
              <a:rPr b="0" dirty="0" lang="en-US" sz="1200">
                <a:solidFill>
                  <a:schemeClr val="bg1"/>
                </a:solidFill>
                <a:latin typeface="Zoho Puvi"/>
              </a:rPr>
              <a:t>identities and privileged access</a:t>
            </a:r>
            <a:endParaRPr b="0" dirty="0" lang="en-US" sz="1200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4" name="">
            <a:extLst>
              <a:ext uri="{4415E22E-5B94-4577-BBF2-71655C4456E2}">
                <a16:creationId xmlns:a16="http://schemas.microsoft.com/office/drawing/2010/main" id="{17213554-6C06-4282-87D4-1BFAB941362F}"/>
              </a:ext>
            </a:extLst>
          </p:cNvPr>
          <p:cNvSpPr txBox="1"/>
          <p:nvPr/>
        </p:nvSpPr>
        <p:spPr>
          <a:xfrm flipH="false" flipV="false" rot="0">
            <a:off x="4097921" y="1323975"/>
            <a:ext cx="4528194" cy="2342626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24b6ff"/>
                </a:solidFill>
                <a:latin typeface="Zoho Puvi"/>
              </a:rPr>
              <a:t>Active Directory management</a:t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200">
                <a:solidFill>
                  <a:schemeClr val="bg1"/>
                </a:solidFill>
                <a:latin typeface="Zoho Puvi"/>
              </a:rPr>
              <a:t>Manage, track, and secure </a:t>
            </a:r>
            <a:r>
              <a:rPr b="0" dirty="0" i="0" lang="en-US" sz="1200">
                <a:solidFill>
                  <a:schemeClr val="bg1"/>
                </a:solidFill>
                <a:latin typeface="Zoho Puvi"/>
              </a:rPr>
              <a:t>Active Directory</a:t>
            </a:r>
          </a:p>
          <a:p>
            <a:pPr algn="l" indent="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>
                <a:solidFill>
                  <a:schemeClr val="bg1"/>
                </a:solidFill>
                <a:latin typeface="Zoho Puvi"/>
              </a:rPr>
              <a:t/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24b6ff"/>
                </a:solidFill>
                <a:latin typeface="Zoho Puvi"/>
              </a:rPr>
              <a:t>Identity governance and administration</a:t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200" u="none">
                <a:solidFill>
                  <a:schemeClr val="bg1"/>
                </a:solidFill>
                <a:latin typeface="Zoho Puvi"/>
              </a:rPr>
              <a:t>Orchestrate user identity management and access controls for Zero Trust</a:t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/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1" dirty="0" i="0" lang="en-US" sz="1400" u="none">
                <a:solidFill>
                  <a:srgbClr val="24b6ff"/>
                </a:solidFill>
                <a:latin typeface="Zoho Puvi"/>
              </a:rPr>
              <a:t>Privileged access </a:t>
            </a:r>
            <a:r>
              <a:rPr b="1" dirty="0" i="0" lang="en-US" sz="1400" u="none">
                <a:solidFill>
                  <a:srgbClr val="24b6ff"/>
                </a:solidFill>
                <a:latin typeface="Zoho Puvi"/>
              </a:rPr>
              <a:t>management</a:t>
            </a:r>
            <a:r>
              <a:rPr b="1" dirty="0" i="0" lang="en-US" sz="1400" u="none">
                <a:solidFill>
                  <a:srgbClr val="80ffff"/>
                </a:solidFill>
                <a:latin typeface="Zoho Puvi"/>
              </a:rPr>
              <a:t> </a:t>
            </a:r>
          </a:p>
          <a:p>
            <a:pPr algn="l" indent="0" lvl="1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>
                  <a:lumMod val="50000"/>
                  <a:lumOff val="50000"/>
                </a:srgbClr>
              </a:buClr>
              <a:buFont typeface="Arial"/>
              <a:buNone/>
              <a:defRPr dirty="0" lang="en-US" sz="1400"/>
            </a:pPr>
            <a:r>
              <a:rPr b="0" dirty="0" i="0" lang="en-US" sz="1200" u="none">
                <a:solidFill>
                  <a:schemeClr val="bg1"/>
                </a:solidFill>
                <a:latin typeface="Zoho Puvi"/>
              </a:rPr>
              <a:t>Control and secure privileged access to critical enterprise systems</a:t>
            </a:r>
            <a:endParaRPr b="0" dirty="0" i="0" lang="en-US" sz="1200" u="none">
              <a:solidFill>
                <a:schemeClr val="bg1"/>
              </a:solidFill>
              <a:latin typeface="Zoho Puvi"/>
            </a:endParaRPr>
          </a:p>
        </p:txBody>
      </p:sp>
    </p:spTree>
    <p:extLst>
      <p:ext uri="{267D8EC8-81D9-4C0D-87F9-498345F13F75}">
        <p14:creationId xmlns:p14="http://schemas.microsoft.com/office/powerpoint/2010/main" val="1734962103771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0C5B689-AB1E-4FB8-A372-8D77AAD56BFC}">
                <a16:creationId xmlns:a16="http://schemas.microsoft.com/office/drawing/2010/main" id="{2847B3B7-C4FF-4E36-8BDB-DEBA47BD0D2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81100" y="1912458"/>
            <a:ext cx="4075080" cy="979331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Active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Directory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A60C3F85-B039-436F-84C7-DD0BC4C8D497}">
                <a16:creationId xmlns:a16="http://schemas.microsoft.com/office/drawing/2010/main" id="{92FD960B-2AEF-45AC-9D64-3E3824DA28D2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29125" y="752475"/>
            <a:ext cx="3653399" cy="3650742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  <a:buFont typeface="Wingdings"/>
              <a:buChar char=""/>
            </a:pPr>
            <a:r>
              <a:rPr b="1" dirty="0" err="1" lang="en-US" sz="1200">
                <a:latin typeface="Zoho Puvi"/>
              </a:rPr>
              <a:t>ADManager</a:t>
            </a:r>
            <a:r>
              <a:rPr b="1" dirty="0" lang="en-US" sz="1200">
                <a:latin typeface="Zoho Puvi"/>
              </a:rPr>
              <a:t> Plus: </a:t>
            </a:r>
            <a:r>
              <a:rPr b="1" dirty="0" lang="en-US" sz="1200">
                <a:latin typeface="Zoho Puvi"/>
              </a:rPr>
              <a:t>‌</a:t>
            </a:r>
            <a:r>
              <a:rPr b="0" dirty="0" lang="en-US" sz="1200">
                <a:latin typeface="Zoho Puvi"/>
              </a:rPr>
              <a:t>Identity Governance and Administration (</a:t>
            </a:r>
            <a:r>
              <a:rPr b="0" dirty="0" err="1" lang="en-US" sz="1200">
                <a:latin typeface="Zoho Puvi"/>
              </a:rPr>
              <a:t>IGA</a:t>
            </a:r>
            <a:r>
              <a:rPr b="0" dirty="0" lang="en-US" sz="1200">
                <a:latin typeface="Zoho Puvi"/>
              </a:rPr>
              <a:t>) solution for AD, Microsoft 365 and Google Workspace</a:t>
            </a:r>
          </a:p>
          <a:p>
            <a:pPr>
              <a:buClr>
                <a:schemeClr val="tx1"/>
              </a:buClr>
              <a:buFont typeface="Wingdings"/>
              <a:buChar char=""/>
            </a:pPr>
            <a:r>
              <a:rPr b="1" dirty="0" err="1" i="0" lang="en-US" sz="1200">
                <a:latin typeface="Zoho Puvi"/>
              </a:rPr>
              <a:t>ADAudit</a:t>
            </a:r>
            <a:r>
              <a:rPr b="1" dirty="0" i="0" lang="en-US" sz="1200">
                <a:latin typeface="Zoho Puvi"/>
              </a:rPr>
              <a:t> Plus: </a:t>
            </a:r>
            <a:r>
              <a:rPr b="0" dirty="0" i="0" lang="en-US" sz="1200">
                <a:latin typeface="Zoho Puvi"/>
              </a:rPr>
              <a:t>Real-time Active Directory, file, and Windows server change auditing</a:t>
            </a:r>
          </a:p>
          <a:p>
            <a:pPr>
              <a:buClr>
                <a:schemeClr val="tx1"/>
              </a:buClr>
              <a:buFont typeface="Wingdings"/>
              <a:buChar char=""/>
            </a:pPr>
            <a:r>
              <a:rPr b="1" dirty="0" err="1" i="0" lang="en-US" sz="1200">
                <a:latin typeface="Zoho Puvi"/>
              </a:rPr>
              <a:t>ADSelfService</a:t>
            </a:r>
            <a:r>
              <a:rPr b="1" dirty="0" i="0" lang="en-US" sz="1200">
                <a:latin typeface="Zoho Puvi"/>
              </a:rPr>
              <a:t> Plus:</a:t>
            </a:r>
            <a:r>
              <a:rPr b="1" dirty="0" i="1" lang="en-US" sz="1200">
                <a:latin typeface="Zoho Puvi"/>
              </a:rPr>
              <a:t> </a:t>
            </a:r>
            <a:r>
              <a:rPr b="0" dirty="0" i="0" lang="en-US" sz="1200">
                <a:latin typeface="Zoho Puvi"/>
              </a:rPr>
              <a:t>Password self-service, endpoint </a:t>
            </a:r>
            <a:r>
              <a:rPr b="0" dirty="0" i="0" lang="en-US" sz="1200">
                <a:latin typeface="Zoho Puvi"/>
              </a:rPr>
              <a:t>MFA</a:t>
            </a:r>
            <a:r>
              <a:rPr b="0" dirty="0" i="0" lang="en-US" sz="1200">
                <a:latin typeface="Zoho Puvi"/>
              </a:rPr>
              <a:t>, </a:t>
            </a:r>
            <a:r>
              <a:rPr b="0" dirty="0" i="0" lang="en-US" sz="1200">
                <a:latin typeface="Zoho Puvi"/>
              </a:rPr>
              <a:t>conditional access</a:t>
            </a:r>
            <a:r>
              <a:rPr b="0" dirty="0" i="0" lang="en-US" sz="1200">
                <a:latin typeface="Zoho Puvi"/>
              </a:rPr>
              <a:t>,</a:t>
            </a:r>
            <a:r>
              <a:rPr b="0" dirty="0" i="0" lang="en-US" sz="1200">
                <a:latin typeface="Zoho Puvi"/>
              </a:rPr>
              <a:t> </a:t>
            </a:r>
            <a:r>
              <a:rPr b="0" dirty="0" i="0" lang="en-US" sz="1200">
                <a:latin typeface="Zoho Puvi"/>
              </a:rPr>
              <a:t>and enterprise </a:t>
            </a:r>
            <a:r>
              <a:rPr b="0" dirty="0" err="1" i="0" lang="en-US" sz="1200">
                <a:latin typeface="Zoho Puvi"/>
              </a:rPr>
              <a:t>SSO</a:t>
            </a:r>
          </a:p>
          <a:p>
            <a:pPr>
              <a:buClr>
                <a:schemeClr val="tx1"/>
              </a:buClr>
              <a:buFont typeface="Wingdings"/>
              <a:buChar char=""/>
            </a:pPr>
            <a:r>
              <a:rPr b="1" dirty="0" i="0" lang="en-US" sz="1200">
                <a:latin typeface="Zoho Puvi"/>
              </a:rPr>
              <a:t>Exchange Reporter Plus:</a:t>
            </a:r>
            <a:r>
              <a:rPr b="1" dirty="0" i="1" lang="en-US" sz="1200">
                <a:latin typeface="Zoho Puvi"/>
              </a:rPr>
              <a:t> </a:t>
            </a:r>
            <a:r>
              <a:rPr b="0" dirty="0" i="0" lang="en-US" sz="1200">
                <a:latin typeface="Zoho Puvi"/>
              </a:rPr>
              <a:t>Reporting, auditing, and monitoring for hybrid Exchange and Skype</a:t>
            </a:r>
          </a:p>
          <a:p>
            <a:pPr>
              <a:buClr>
                <a:schemeClr val="tx1"/>
              </a:buClr>
              <a:buFont typeface="Wingdings"/>
              <a:buChar char=""/>
            </a:pPr>
            <a:r>
              <a:rPr b="1" dirty="0" err="1" i="0" lang="en-US" sz="1200">
                <a:latin typeface="Zoho Puvi"/>
              </a:rPr>
              <a:t>RecoveryManager</a:t>
            </a:r>
            <a:r>
              <a:rPr b="1" dirty="0" i="0" lang="en-US" sz="1200">
                <a:latin typeface="Zoho Puvi"/>
              </a:rPr>
              <a:t> Plus: </a:t>
            </a:r>
            <a:r>
              <a:rPr b="0" dirty="0" i="0" lang="en-US" sz="1200">
                <a:latin typeface="Zoho Puvi"/>
              </a:rPr>
              <a:t>AD, Entra ID, Microsoft 365, Google Workspace, Exchange, and Zoho WorkDrive backup and recovery</a:t>
            </a:r>
            <a:endParaRPr b="0" dirty="0" i="0" lang="en-US" sz="1200">
              <a:latin typeface="Zoho Puvi"/>
            </a:endParaRPr>
          </a:p>
        </p:txBody>
      </p:sp>
    </p:spTree>
    <p:extLst>
      <p:ext uri="{88F10885-8396-4C7B-A07A-DBA7DBE54293}">
        <p14:creationId xmlns:p14="http://schemas.microsoft.com/office/powerpoint/2010/main" val="1734962103772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AB22D10-BCB5-4433-85B1-56D626BD492B}">
                <a16:creationId xmlns:a16="http://schemas.microsoft.com/office/drawing/2010/main" id="{F1F7D5D2-ADDE-4C28-9111-16EBCBBBB6B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445474"/>
            <a:ext cx="7620000" cy="1333138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ADManager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‌Identity Governance and Administration (</a:t>
            </a:r>
            <a:r>
              <a:rPr b="1" dirty="0" err="1" i="0" lang="en-US" sz="1400">
                <a:latin typeface="Zoho Puvi"/>
              </a:rPr>
              <a:t>IGA</a:t>
            </a:r>
            <a:r>
              <a:rPr b="1" dirty="0" i="0" lang="en-US" sz="1400">
                <a:latin typeface="Zoho Puvi"/>
              </a:rPr>
              <a:t>) solution for AD, Microsoft 365 and Google Workspace</a:t>
            </a:r>
          </a:p>
          <a:p>
            <a:pPr/>
            <a:r>
              <a:rPr b="1" dirty="0" lang="en-US" sz="12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chemeClr val="accent6"/>
                </a:solidFill>
                <a:latin typeface="Zoho Puvi"/>
                <a:hlinkClick r:id="rId2"/>
              </a:rPr>
              <a:t>O</a:t>
            </a:r>
            <a:r>
              <a:rPr b="1" dirty="0" lang="en-US" sz="1200">
                <a:solidFill>
                  <a:schemeClr val="accent6"/>
                </a:solidFill>
                <a:latin typeface="Zoho Puvi"/>
                <a:hlinkClick r:id="rId3"/>
              </a:rPr>
              <a:t>n-premises</a:t>
            </a:r>
            <a:r>
              <a:rPr b="1" dirty="0" lang="en-US" sz="12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err="1" lang="en-US" sz="1200">
                <a:solidFill>
                  <a:schemeClr val="accent6"/>
                </a:solidFill>
                <a:latin typeface="Zoho Puvi"/>
                <a:hlinkClick r:id="rId4"/>
              </a:rPr>
              <a:t>MSP</a:t>
            </a:r>
            <a:r>
              <a:rPr b="1" dirty="0" lang="en-US" sz="12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2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ACD626E3-86A4-4D54-83BA-A8474CF57E62}">
                <a16:creationId xmlns:a16="http://schemas.microsoft.com/office/drawing/2010/main" id="{C2829141-8EAC-4CBB-BA85-8F9D7EB81F68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784727"/>
            <a:ext cx="7620000" cy="3048000"/>
          </a:xfrm>
        </p:spPr>
        <p:txBody>
          <a:bodyPr rtlCol="0">
            <a:noAutofit/>
          </a:bodyPr>
          <a:lstStyle/>
          <a:p>
            <a:pPr>
              <a:lnSpc>
                <a:spcPct val="7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Streamlined identity life cycle management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Compliance-oriented reporting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Multi-level business workflows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Granular access controls and delegation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Entitlements management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Inter-forest and intra-forest migration of AD objects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Secure data backups and recovery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Integration with popular </a:t>
            </a:r>
            <a:r>
              <a:rPr b="0" dirty="0" err="1" lang="en-US" sz="1400">
                <a:latin typeface="Zoho Puvi"/>
              </a:rPr>
              <a:t>SIEM</a:t>
            </a:r>
            <a:r>
              <a:rPr b="0" dirty="0" lang="en-US" sz="1400">
                <a:latin typeface="Zoho Puvi"/>
              </a:rPr>
              <a:t>, </a:t>
            </a:r>
            <a:r>
              <a:rPr b="0" dirty="0" err="1" lang="en-US" sz="1400">
                <a:latin typeface="Zoho Puvi"/>
              </a:rPr>
              <a:t>HCM</a:t>
            </a:r>
            <a:r>
              <a:rPr b="0" dirty="0" lang="en-US" sz="1400">
                <a:latin typeface="Zoho Puvi"/>
              </a:rPr>
              <a:t>, </a:t>
            </a:r>
            <a:r>
              <a:rPr b="0" dirty="0" lang="en-US" sz="1400">
                <a:latin typeface="Zoho Puvi"/>
              </a:rPr>
              <a:t>ITSM</a:t>
            </a:r>
            <a:r>
              <a:rPr b="0" dirty="0" lang="en-US" sz="1400">
                <a:latin typeface="Zoho Puvi"/>
              </a:rPr>
              <a:t> and help desk tools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iOS and Android mobile apps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Customizable dashboard</a:t>
            </a:r>
            <a:endParaRPr b="0" dirty="0" lang="en-US" sz="1400">
              <a:latin typeface="Zoho Puvi"/>
            </a:endParaRPr>
          </a:p>
        </p:txBody>
      </p:sp>
    </p:spTree>
    <p:extLst>
      <p:ext uri="{672EDD75-BE5B-4F2F-A7C4-8F246A768B79}">
        <p14:creationId xmlns:p14="http://schemas.microsoft.com/office/powerpoint/2010/main" val="1734962103773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D5EF30F-9F4C-479B-87D1-31EB97C4D134}">
                <a16:creationId xmlns:a16="http://schemas.microsoft.com/office/drawing/2010/main" id="{80BEAB8A-3D57-432A-B60A-2BEA16A44EE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91944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ADAudit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 </a:t>
            </a:r>
          </a:p>
          <a:p>
            <a:pPr/>
            <a:r>
              <a:rPr b="1" dirty="0" i="0" lang="en-US" sz="1400">
                <a:latin typeface="Zoho Puvi"/>
              </a:rPr>
              <a:t>Real-time Active Directory, file, and Windows server change auditing</a:t>
            </a:r>
          </a:p>
          <a:p>
            <a:pPr/>
            <a:r>
              <a:rPr dirty="0" i="0" lang="en-US" sz="1200">
                <a:solidFill>
                  <a:srgbClr val="c1408a"/>
                </a:solidFill>
                <a:latin typeface="Zoho Puvi-demi_bold"/>
              </a:rPr>
              <a:t>(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2"/>
              </a:rPr>
              <a:t>O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3"/>
              </a:rPr>
              <a:t>n-premises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</a:rPr>
              <a:t>)</a:t>
            </a:r>
            <a:endParaRPr dirty="0" i="0" lang="en-US" sz="1200">
              <a:solidFill>
                <a:srgbClr val="c1408a"/>
              </a:solidFill>
              <a:latin typeface="Zoho Puvi-demi_bold"/>
            </a:endParaRPr>
          </a:p>
        </p:txBody>
      </p:sp>
      <p:sp>
        <p:nvSpPr>
          <p:cNvPr id="3" name="Content Placeholder 2">
            <a:extLst>
              <a:ext uri="{660D80C1-A7E2-4D57-A770-18474595083A}">
                <a16:creationId xmlns:a16="http://schemas.microsoft.com/office/drawing/2010/main" id="{C7247B3B-88C0-47C0-BD57-EC9AAF60214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Real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-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time change monitoring and alerting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ctive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D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irectory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group management  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User logon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Audit trail for privilege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d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users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File access and user activity auditing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Anomaly detection using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UBA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Compliance reports for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SOX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,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the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GDPR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, and other mandates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1682EB44-167D-4FB4-874C-E23E8E38F9C2}">
        <p14:creationId xmlns:p14="http://schemas.microsoft.com/office/powerpoint/2010/main" val="1734962103774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0D8367D-04C7-4B72-985C-64A554F116A0}">
                <a16:creationId xmlns:a16="http://schemas.microsoft.com/office/drawing/2010/main" id="{5FC432E2-F414-488E-A3BF-3E4BDC79C9C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977026"/>
            <a:ext cx="7620000" cy="1188624"/>
          </a:xfrm>
        </p:spPr>
        <p:txBody>
          <a:bodyPr rtlCol="0"/>
          <a:lstStyle/>
          <a:p>
            <a:pPr/>
            <a:r>
              <a:rPr b="1" dirty="0" err="1" lang="en-US" sz="3600">
                <a:latin typeface="Roboto"/>
              </a:rPr>
              <a:t/>
            </a:r>
          </a:p>
          <a:p>
            <a:pPr/>
            <a:r>
              <a:rPr b="1" dirty="0" err="1" lang="en-US" sz="3600">
                <a:latin typeface="Roboto"/>
              </a:rPr>
              <a:t/>
            </a:r>
          </a:p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ADSelfService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Password self-service, endpoint </a:t>
            </a:r>
            <a:r>
              <a:rPr b="1" dirty="0" i="0" lang="en-US" sz="1400">
                <a:latin typeface="Zoho Puvi"/>
              </a:rPr>
              <a:t>MFA</a:t>
            </a:r>
            <a:r>
              <a:rPr b="1" dirty="0" i="0" lang="en-US" sz="1400">
                <a:latin typeface="Zoho Puvi"/>
              </a:rPr>
              <a:t>, </a:t>
            </a:r>
            <a:r>
              <a:rPr b="1" dirty="0" i="0" lang="en-US" sz="1400">
                <a:latin typeface="Zoho Puvi"/>
              </a:rPr>
              <a:t>conditional access</a:t>
            </a:r>
            <a:r>
              <a:rPr b="1" dirty="0" i="0" lang="en-US" sz="1400">
                <a:latin typeface="Zoho Puvi"/>
              </a:rPr>
              <a:t>,</a:t>
            </a:r>
            <a:r>
              <a:rPr b="1" dirty="0" i="0" lang="en-US" sz="1400">
                <a:latin typeface="Zoho Puvi"/>
              </a:rPr>
              <a:t> </a:t>
            </a:r>
            <a:br>
              <a:rPr b="1" dirty="0" i="0" lang="en-US" sz="1400">
                <a:latin typeface="Zoho Puvi"/>
              </a:rPr>
            </a:br>
            <a:r>
              <a:rPr b="1" dirty="0" i="0" lang="en-US" sz="1400">
                <a:latin typeface="Zoho Puvi"/>
              </a:rPr>
              <a:t>and enterprise </a:t>
            </a:r>
            <a:r>
              <a:rPr b="1" dirty="0" err="1" i="0" lang="en-US" sz="1400">
                <a:latin typeface="Zoho Puvi"/>
              </a:rPr>
              <a:t>SSO</a:t>
            </a:r>
          </a:p>
          <a:p>
            <a:pPr/>
            <a:r>
              <a:rPr dirty="0" err="1" i="0" lang="en-US" sz="1200">
                <a:solidFill>
                  <a:srgbClr val="c1408a"/>
                </a:solidFill>
                <a:latin typeface="Zoho Puvi-demi_bold"/>
              </a:rPr>
              <a:t>(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2"/>
              </a:rPr>
              <a:t>O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3"/>
              </a:rPr>
              <a:t>n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4"/>
              </a:rPr>
              <a:t>-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5"/>
              </a:rPr>
              <a:t>premises</a:t>
            </a:r>
            <a:r>
              <a:rPr dirty="0" err="1" i="0" lang="en-US" sz="1200">
                <a:solidFill>
                  <a:srgbClr val="c1408a"/>
                </a:solidFill>
                <a:latin typeface="Zoho Puvi-demi_bold"/>
              </a:rPr>
              <a:t>)</a:t>
            </a:r>
          </a:p>
          <a:p>
            <a:pPr/>
            <a:r>
              <a:rPr b="1" dirty="0" err="1" i="0" lang="en-US" sz="1400">
                <a:latin typeface="Roboto"/>
              </a:rPr>
              <a:t/>
            </a:r>
          </a:p>
          <a:p>
            <a:pPr/>
            <a:r>
              <a:rPr dirty="0" i="0" lang="en-US" sz="1400">
                <a:latin typeface="Roboto"/>
              </a:rPr>
              <a:t/>
            </a:r>
            <a:endParaRPr dirty="0" i="0" lang="en-US" sz="1400">
              <a:latin typeface="Roboto"/>
            </a:endParaRPr>
          </a:p>
        </p:txBody>
      </p:sp>
      <p:sp>
        <p:nvSpPr>
          <p:cNvPr id="3" name="Content Placeholder 2">
            <a:extLst>
              <a:ext uri="{99A0BC18-F634-4B13-8AA5-714FE3FBBDDA}">
                <a16:creationId xmlns:a16="http://schemas.microsoft.com/office/drawing/2010/main" id="{E2B6BED0-894C-4230-8E2A-5E3FA4A472A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45645" y="1716738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Self-service password reset and account unlock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Endpoint MFA for major </a:t>
            </a:r>
            <a:r>
              <a:rPr b="0" dirty="0" err="1" lang="en-US" sz="1400">
                <a:latin typeface="Zoho Puvi"/>
              </a:rPr>
              <a:t>OSs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SSO</a:t>
            </a:r>
            <a:r>
              <a:rPr b="0" dirty="0" lang="en-US" sz="1400">
                <a:latin typeface="Zoho Puvi"/>
              </a:rPr>
              <a:t> for cloud applications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password synchronizer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Custom password policy enforcer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Password expiration notifi</a:t>
            </a:r>
            <a:r>
              <a:rPr b="0" dirty="0" lang="en-US" sz="1400">
                <a:latin typeface="Zoho Puvi"/>
              </a:rPr>
              <a:t>cations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Directory self-update and corporate search</a:t>
            </a:r>
            <a:endParaRPr b="0" dirty="0" lang="en-US" sz="1400">
              <a:latin typeface="Zoho Puvi"/>
            </a:endParaRPr>
          </a:p>
        </p:txBody>
      </p:sp>
    </p:spTree>
    <p:extLst>
      <p:ext uri="{217192D0-AFA1-438F-AD68-673B27B7CFC3}">
        <p14:creationId xmlns:p14="http://schemas.microsoft.com/office/powerpoint/2010/main" val="1734962103776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A99F5A2-8CAD-40B1-BAEB-1025E20F9A9E}">
                <a16:creationId xmlns:a16="http://schemas.microsoft.com/office/drawing/2010/main" id="{73A6904F-922C-43BF-938D-F99A2F2A6C2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38225" y="65384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Exchange Reporter Plus</a:t>
            </a:r>
          </a:p>
          <a:p>
            <a:pPr/>
            <a:r>
              <a:rPr b="1" dirty="0" i="0" lang="en-US" sz="1400">
                <a:latin typeface="Zoho Puvi"/>
              </a:rPr>
              <a:t>Reporting, auditing, and monitoring for hybrid Exchange and Skype</a:t>
            </a:r>
          </a:p>
          <a:p>
            <a:pPr/>
            <a:r>
              <a:rPr dirty="0" err="1" i="0" lang="en-US" sz="1200">
                <a:solidFill>
                  <a:schemeClr val="accent6"/>
                </a:solidFill>
                <a:latin typeface="Zoho Puvi-demi_bold"/>
              </a:rPr>
              <a:t>(</a:t>
            </a:r>
            <a:r>
              <a:rPr dirty="0" i="0" lang="en-US" sz="1200">
                <a:solidFill>
                  <a:schemeClr val="accent6"/>
                </a:solidFill>
                <a:latin typeface="Zoho Puvi-demi_bold"/>
                <a:hlinkClick r:id="rId2"/>
              </a:rPr>
              <a:t>O</a:t>
            </a:r>
            <a:r>
              <a:rPr dirty="0" i="0" lang="en-US" sz="1200">
                <a:solidFill>
                  <a:schemeClr val="accent6"/>
                </a:solidFill>
                <a:latin typeface="Zoho Puvi-demi_bold"/>
                <a:hlinkClick r:id="rId3"/>
              </a:rPr>
              <a:t>n</a:t>
            </a:r>
            <a:r>
              <a:rPr dirty="0" i="0" lang="en-US" sz="1200">
                <a:solidFill>
                  <a:schemeClr val="accent6"/>
                </a:solidFill>
                <a:latin typeface="Zoho Puvi-demi_bold"/>
                <a:hlinkClick r:id="rId4"/>
              </a:rPr>
              <a:t>-</a:t>
            </a:r>
            <a:r>
              <a:rPr dirty="0" i="0" lang="en-US" sz="1200">
                <a:solidFill>
                  <a:schemeClr val="accent6"/>
                </a:solidFill>
                <a:latin typeface="Zoho Puvi-demi_bold"/>
                <a:hlinkClick r:id="rId5"/>
              </a:rPr>
              <a:t>premises</a:t>
            </a:r>
            <a:r>
              <a:rPr dirty="0" err="1" i="0" lang="en-US" sz="1200">
                <a:solidFill>
                  <a:schemeClr val="accent6"/>
                </a:solidFill>
                <a:latin typeface="Zoho Puvi-demi_bold"/>
              </a:rPr>
              <a:t>)</a:t>
            </a:r>
            <a:endParaRPr dirty="0" err="1" i="0" lang="en-US" sz="1200">
              <a:solidFill>
                <a:schemeClr val="accent6"/>
              </a:solidFill>
              <a:latin typeface="Zoho Puvi-demi_bold"/>
            </a:endParaRPr>
          </a:p>
        </p:txBody>
      </p:sp>
      <p:sp>
        <p:nvSpPr>
          <p:cNvPr id="3" name="Content Placeholder 2">
            <a:extLst>
              <a:ext uri="{3ECDD515-F2C4-4B72-AB8A-0EB318C81FCF}">
                <a16:creationId xmlns:a16="http://schemas.microsoft.com/office/drawing/2010/main" id="{4C9900B7-DC22-4A2F-97E1-F01893BCCBB6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38225" y="1504950"/>
            <a:ext cx="7620000" cy="3048000"/>
          </a:xfrm>
        </p:spPr>
        <p:txBody>
          <a:bodyPr rtlCol="0">
            <a:normAutofit fontScale="100000" lnSpcReduction="0"/>
          </a:bodyPr>
          <a:lstStyle/>
          <a:p>
            <a:pPr>
              <a:lnSpc>
                <a:spcPct val="85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Comprehensive monitoring of your Exchange environment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Exchange Server auditing and reporting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Exchange Online auditing and reporting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Skype for Business Server reporting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change auditing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Granular reporting 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Compliance reports for </a:t>
            </a:r>
            <a:r>
              <a:rPr b="0" dirty="0" err="1" lang="en-US" sz="1400">
                <a:latin typeface="Zoho Puvi"/>
              </a:rPr>
              <a:t>SOX</a:t>
            </a:r>
            <a:r>
              <a:rPr b="0" dirty="0" lang="en-US" sz="1400">
                <a:latin typeface="Zoho Puvi"/>
              </a:rPr>
              <a:t>, </a:t>
            </a:r>
            <a:r>
              <a:rPr b="0" dirty="0" err="1" lang="en-US" sz="1400">
                <a:latin typeface="Zoho Puvi"/>
              </a:rPr>
              <a:t>HIP</a:t>
            </a:r>
            <a:r>
              <a:rPr b="0" dirty="0" err="1" lang="en-US" sz="1400">
                <a:latin typeface="Zoho Puvi"/>
              </a:rPr>
              <a:t>A</a:t>
            </a:r>
            <a:r>
              <a:rPr b="0" dirty="0" err="1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, </a:t>
            </a:r>
            <a:r>
              <a:rPr b="0" dirty="0" err="1" lang="en-US" sz="1400">
                <a:latin typeface="Zoho Puvi"/>
              </a:rPr>
              <a:t>PCI</a:t>
            </a:r>
            <a:r>
              <a:rPr b="0" dirty="0" lang="en-US" sz="1400">
                <a:latin typeface="Zoho Puvi"/>
              </a:rPr>
              <a:t> </a:t>
            </a:r>
            <a:r>
              <a:rPr b="0" dirty="0" err="1" lang="en-US" sz="1400">
                <a:latin typeface="Zoho Puvi"/>
              </a:rPr>
              <a:t>DSS</a:t>
            </a:r>
            <a:r>
              <a:rPr b="0" dirty="0" lang="en-US" sz="1400">
                <a:latin typeface="Zoho Puvi"/>
              </a:rPr>
              <a:t>, and </a:t>
            </a:r>
            <a:r>
              <a:rPr b="0" dirty="0" err="1" lang="en-US" sz="1400">
                <a:latin typeface="Zoho Puvi"/>
              </a:rPr>
              <a:t>GLBA</a:t>
            </a:r>
            <a:r>
              <a:rPr b="0" dirty="0" lang="en-US" sz="1400">
                <a:latin typeface="Zoho Puvi"/>
              </a:rPr>
              <a:t> audits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Keyword-based mailbox content search</a:t>
            </a:r>
          </a:p>
          <a:p>
            <a:pPr>
              <a:lnSpc>
                <a:spcPct val="85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Exchange migration</a:t>
            </a:r>
            <a:endParaRPr b="0" dirty="0" lang="en-US" sz="1400">
              <a:latin typeface="Zoho Puvi"/>
            </a:endParaRPr>
          </a:p>
        </p:txBody>
      </p:sp>
    </p:spTree>
    <p:extLst>
      <p:ext uri="{D16135C3-551E-4892-B11B-9A1C0D486C0F}">
        <p14:creationId xmlns:p14="http://schemas.microsoft.com/office/powerpoint/2010/main" val="1734962103777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1A0152B-9348-486C-BA15-E4CBC8C1C04D}">
                <a16:creationId xmlns:a16="http://schemas.microsoft.com/office/drawing/2010/main" id="{D9364941-945C-4FAF-91AD-58E76EF1BE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81199"/>
            <a:ext cx="7620000" cy="1051979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RecoveryManager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Active Directory, Entra ID, Microsoft 365, Google Workspace, Exchange, and Zoho WorkDrive backup and recovery</a:t>
            </a:r>
          </a:p>
          <a:p>
            <a:pPr/>
            <a:r>
              <a:rPr dirty="0" err="1" i="0" lang="en-US" sz="1200">
                <a:solidFill>
                  <a:srgbClr val="c1408a"/>
                </a:solidFill>
                <a:latin typeface="Zoho Puvi-demi_bold"/>
              </a:rPr>
              <a:t>(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2"/>
              </a:rPr>
              <a:t>O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3"/>
              </a:rPr>
              <a:t>n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4"/>
              </a:rPr>
              <a:t>-</a:t>
            </a:r>
            <a:r>
              <a:rPr dirty="0" i="0" lang="en-US" sz="1200">
                <a:solidFill>
                  <a:srgbClr val="c1408a"/>
                </a:solidFill>
                <a:latin typeface="Zoho Puvi-demi_bold"/>
                <a:hlinkClick r:id="rId5"/>
              </a:rPr>
              <a:t>premises</a:t>
            </a:r>
            <a:r>
              <a:rPr dirty="0" err="1" i="0" lang="en-US" sz="1200">
                <a:solidFill>
                  <a:srgbClr val="c1408a"/>
                </a:solidFill>
                <a:latin typeface="Zoho Puvi-demi_bold"/>
              </a:rPr>
              <a:t>)</a:t>
            </a:r>
            <a:endParaRPr dirty="0" err="1" i="0" lang="en-US" sz="1200">
              <a:solidFill>
                <a:srgbClr val="c1408a"/>
              </a:solidFill>
              <a:latin typeface="Zoho Puvi-demi_bold"/>
            </a:endParaRPr>
          </a:p>
        </p:txBody>
      </p:sp>
      <p:sp>
        <p:nvSpPr>
          <p:cNvPr id="3" name="Content Placeholder 2">
            <a:extLst>
              <a:ext uri="{6774FE52-F395-45D1-B0F4-78009933F51D}">
                <a16:creationId xmlns:a16="http://schemas.microsoft.com/office/drawing/2010/main" id="{7F2EBFB5-A9FE-466E-9507-EC584CB24599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771278"/>
            <a:ext cx="3741610" cy="2473718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AD backup                                                                                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Exchange Online backup                                                            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OneDrive for Business backup                                       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Exchange backup                                                              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Store backups in </a:t>
            </a:r>
            <a:r>
              <a:rPr b="0" dirty="0" err="1" lang="en-US" sz="1400">
                <a:latin typeface="Zoho Puvi"/>
              </a:rPr>
              <a:t>NAS</a:t>
            </a:r>
            <a:r>
              <a:rPr b="0" dirty="0" lang="en-US" sz="1400">
                <a:latin typeface="Zoho Puvi"/>
              </a:rPr>
              <a:t>, Azure Blob storage or Files                       </a:t>
            </a:r>
            <a:endParaRPr b="0" dirty="0" lang="en-US" sz="1400">
              <a:latin typeface="Zoho Puvi"/>
            </a:endParaRPr>
          </a:p>
        </p:txBody>
      </p:sp>
      <p:sp>
        <p:nvSpPr>
          <p:cNvPr hidden="false" id="4" name="">
            <a:extLst>
              <a:ext uri="{801A0AF6-EFA8-4B80-9D79-A84B1154B38B}">
                <a16:creationId xmlns:a16="http://schemas.microsoft.com/office/drawing/2010/main" id="{F3E3C47A-C843-4AAF-982D-FEE7194F9890}"/>
              </a:ext>
            </a:extLst>
          </p:cNvPr>
          <p:cNvSpPr txBox="1">
            <a:spLocks noGrp="true"/>
          </p:cNvSpPr>
          <p:nvPr/>
        </p:nvSpPr>
        <p:spPr>
          <a:xfrm rot="0">
            <a:off x="4400302" y="1809750"/>
            <a:ext cx="3770823" cy="1963702"/>
          </a:xfrm>
          <a:prstGeom prst="rect">
            <a:avLst/>
          </a:prstGeom>
          <a:ln w="0">
            <a:noFill/>
            <a:round/>
          </a:ln>
          <a:effectLst/>
        </p:spPr>
        <p:txBody>
          <a:bodyPr anchor="t" bIns="45720" lIns="91440" numCol="1" rIns="91440" rtlCol="0" spcCol="0" tIns="93600">
            <a:noAutofit/>
          </a:bodyPr>
          <a:lstStyle>
            <a:lvl1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 b="0" dirty="0" i="0" lang="en-US" sz="1600">
                <a:solidFill>
                  <a:schemeClr val="tx1"/>
                </a:solidFill>
                <a:latin typeface="Zoho Puvi"/>
              </a:defRPr>
            </a:lvl1pPr>
            <a:lvl2pPr algn="l" indent="-285750" lvl="1" marL="74295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400">
                <a:solidFill>
                  <a:schemeClr val="bg1">
                    <a:lumMod val="50000"/>
                  </a:schemeClr>
                </a:solidFill>
                <a:latin typeface="Zoho Puvi"/>
              </a:defRPr>
            </a:lvl2pPr>
            <a:lvl3pPr algn="l" indent="-228600" lvl="2" marL="11430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200">
                <a:solidFill>
                  <a:schemeClr val="bg1">
                    <a:lumMod val="50000"/>
                  </a:schemeClr>
                </a:solidFill>
                <a:latin typeface="Zoho Puvi"/>
              </a:defRPr>
            </a:lvl3pPr>
            <a:lvl4pPr algn="l" indent="-228600" lvl="3" marL="16002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000">
                <a:solidFill>
                  <a:schemeClr val="bg1">
                    <a:lumMod val="50000"/>
                  </a:schemeClr>
                </a:solidFill>
                <a:latin typeface="Zoho Puvi"/>
              </a:defRPr>
            </a:lvl4pPr>
            <a:lvl5pPr algn="l" indent="-228600" lvl="4" marL="20574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Zoho Puvi"/>
              </a:defRPr>
            </a:lvl5pPr>
            <a:lvl6pPr algn="l" indent="-228600" lvl="5" marL="25146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6pPr>
            <a:lvl7pPr algn="l" indent="-228600" lvl="6" marL="29718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7pPr>
            <a:lvl8pPr algn="l" indent="-228600" lvl="7" marL="34290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8pPr>
            <a:lvl9pPr algn="l" indent="-228600" lvl="8" marL="38862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9pPr>
          </a:lstStyle>
          <a:p>
            <a: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Entra ID backup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SharePoint Online backup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Google Workspace backup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Zoho WorkDrive backup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Role delegation</a:t>
            </a:r>
            <a:endParaRPr b="0" dirty="0" i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05E8C3A0-DA7D-4E8D-9C9A-0392F1C7BD88}">
        <p14:creationId xmlns:p14="http://schemas.microsoft.com/office/powerpoint/2010/main" val="1734962103778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10A502A-6942-4D3E-AE5C-D2F02B530D89}">
                <a16:creationId xmlns:a16="http://schemas.microsoft.com/office/drawing/2010/main" id="{8B77B26A-86DD-417B-B7D7-B071438EFE6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04954" y="2266950"/>
            <a:ext cx="2513666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Identity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governance and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administration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A61541EB-E77D-4826-AD3F-00A6265A19A5}">
                <a16:creationId xmlns:a16="http://schemas.microsoft.com/office/drawing/2010/main" id="{76102BA5-9F0F-4F88-B6F8-2DC7B4AFA5D9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29125" y="1500606"/>
            <a:ext cx="3738553" cy="1749628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lang="en-US" sz="1400">
                <a:latin typeface="Zoho Puvi"/>
              </a:rPr>
              <a:t>AD360:</a:t>
            </a:r>
            <a:r>
              <a:rPr b="1" dirty="0" i="0" lang="en-US" sz="1400">
                <a:latin typeface="Zoho Puvi"/>
              </a:rPr>
              <a:t> </a:t>
            </a:r>
            <a:r>
              <a:rPr b="0" dirty="0" i="0" lang="en-US" sz="1400">
                <a:latin typeface="Zoho Puvi"/>
              </a:rPr>
              <a:t>Workforce identity and access management for hybrid ecosystems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M365 Manager Plus: </a:t>
            </a:r>
            <a:r>
              <a:rPr b="0" dirty="0" i="0" lang="en-US" sz="1400">
                <a:latin typeface="Zoho Puvi"/>
              </a:rPr>
              <a:t>Microsoft 365 management, reporting, and auditing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Identity360: </a:t>
            </a:r>
            <a:r>
              <a:rPr b="0" dirty="0" i="0" lang="en-US" sz="1400">
                <a:latin typeface="Zoho Puvi"/>
              </a:rPr>
              <a:t>A cloud-native identity platform for workforce </a:t>
            </a:r>
            <a:r>
              <a:rPr b="0" dirty="0" err="1" i="0" lang="en-US" sz="1400">
                <a:latin typeface="Zoho Puvi"/>
              </a:rPr>
              <a:t>IAM</a:t>
            </a:r>
            <a:endParaRPr b="0" dirty="0" err="1" i="0" lang="en-US" sz="1400">
              <a:latin typeface="Zoho Puvi"/>
            </a:endParaRPr>
          </a:p>
        </p:txBody>
      </p:sp>
    </p:spTree>
    <p:extLst>
      <p:ext uri="{4C298E66-B5C5-4626-A750-CA6949A7B932}">
        <p14:creationId xmlns:p14="http://schemas.microsoft.com/office/powerpoint/2010/main" val="1734962103780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001460C-E4D6-4902-B43B-034A54A80ECC}">
                <a16:creationId xmlns:a16="http://schemas.microsoft.com/office/drawing/2010/main" id="{1B9494F5-DC3F-4DB6-88F2-BFFBD85D259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59341" y="69194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AD360</a:t>
            </a:r>
          </a:p>
          <a:p>
            <a:pPr/>
            <a:r>
              <a:rPr b="1" dirty="0" i="0" lang="en-US" sz="1400">
                <a:latin typeface="Zoho Puvi"/>
              </a:rPr>
              <a:t>Workforce identity and access management for hybrid ecosystems</a:t>
            </a:r>
          </a:p>
          <a:p>
            <a:pPr/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  <a:hlinkClick r:id="rId2"/>
              </a:rPr>
              <a:t>O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3"/>
              </a:rPr>
              <a:t>n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4"/>
              </a:rPr>
              <a:t>-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5"/>
              </a:rPr>
              <a:t>premises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err="1" i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F2C602F2-FCBD-498C-9B2D-14660A4E2DF2}">
                <a16:creationId xmlns:a16="http://schemas.microsoft.com/office/drawing/2010/main" id="{46C8FC50-2CC9-4F98-B2EF-9634F9E3498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6242351" cy="3048000"/>
          </a:xfrm>
        </p:spPr>
        <p:txBody>
          <a:bodyPr rtlCol="0">
            <a:noAutofit/>
          </a:bodyPr>
          <a:lstStyle/>
          <a:p>
            <a:pPr>
              <a:lnSpc>
                <a:spcPct val="7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Identity life</a:t>
            </a:r>
            <a:r>
              <a:rPr b="0" dirty="0" lang="en-US" sz="1400">
                <a:latin typeface="Zoho Puvi"/>
              </a:rPr>
              <a:t> </a:t>
            </a:r>
            <a:r>
              <a:rPr b="0" dirty="0" lang="en-US" sz="1400">
                <a:latin typeface="Zoho Puvi"/>
              </a:rPr>
              <a:t>cycle management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MFA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SSO</a:t>
            </a:r>
            <a:r>
              <a:rPr b="0" dirty="0" lang="en-US" sz="1400">
                <a:latin typeface="Zoho Puvi"/>
              </a:rPr>
              <a:t> and password self-service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UBA</a:t>
            </a:r>
            <a:r>
              <a:rPr b="0" dirty="0" lang="en-US" sz="1400">
                <a:latin typeface="Zoho Puvi"/>
              </a:rPr>
              <a:t>-powered identity governance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Automated </a:t>
            </a:r>
            <a:r>
              <a:rPr b="0" dirty="0" lang="en-US" sz="1400">
                <a:latin typeface="Zoho Puvi"/>
              </a:rPr>
              <a:t>i</a:t>
            </a:r>
            <a:r>
              <a:rPr b="0" dirty="0" lang="en-US" sz="1400">
                <a:latin typeface="Zoho Puvi"/>
              </a:rPr>
              <a:t>dentity </a:t>
            </a:r>
            <a:r>
              <a:rPr b="0" dirty="0" lang="en-US" sz="1400">
                <a:latin typeface="Zoho Puvi"/>
              </a:rPr>
              <a:t>management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Role-based delegation with approval workflow</a:t>
            </a:r>
          </a:p>
          <a:p>
            <a:pPr>
              <a:lnSpc>
                <a:spcPct val="7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Identity orchestration</a:t>
            </a:r>
          </a:p>
          <a:p>
            <a:pPr>
              <a:lnSpc>
                <a:spcPct val="7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Active Directory and </a:t>
            </a:r>
            <a:r>
              <a:rPr b="0" dirty="0" lang="en-US" sz="1400">
                <a:latin typeface="Zoho Puvi"/>
              </a:rPr>
              <a:t>Microsoft</a:t>
            </a:r>
            <a:r>
              <a:rPr b="0" dirty="0" lang="en-US" sz="1400">
                <a:latin typeface="Zoho Puvi"/>
              </a:rPr>
              <a:t> 365 data protection</a:t>
            </a:r>
          </a:p>
          <a:p>
            <a:pPr>
              <a:lnSpc>
                <a:spcPct val="7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Access certification and review</a:t>
            </a:r>
          </a:p>
          <a:p>
            <a:pPr>
              <a:lnSpc>
                <a:spcPct val="7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Risk assessment</a:t>
            </a:r>
            <a:endParaRPr b="0" dirty="0" lang="en-US" sz="1400">
              <a:latin typeface="Zoho Puvi"/>
            </a:endParaRPr>
          </a:p>
        </p:txBody>
      </p:sp>
    </p:spTree>
    <p:extLst>
      <p:ext uri="{F39286AA-1610-48E7-9BAB-7B7E94B4A7D9}">
        <p14:creationId xmlns:p14="http://schemas.microsoft.com/office/powerpoint/2010/main" val="173496210378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827C1A73-54AA-4DAB-B5BC-0AEF4A3668F9}">
                <a16:creationId xmlns:a16="http://schemas.microsoft.com/office/drawing/2010/main" id="{6F99C8AE-E763-47B3-AAB5-66BB21E1F2F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91944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Identity360</a:t>
            </a:r>
          </a:p>
          <a:p>
            <a:pPr/>
            <a:r>
              <a:rPr b="1" dirty="0" i="0" lang="en-US" sz="1400">
                <a:latin typeface="Zoho Puvi"/>
              </a:rPr>
              <a:t>A cloud-native identity platform for workforce </a:t>
            </a:r>
            <a:r>
              <a:rPr b="1" dirty="0" err="1" i="0" lang="en-US" sz="1400">
                <a:latin typeface="Zoho Puvi"/>
              </a:rPr>
              <a:t>IAM</a:t>
            </a:r>
          </a:p>
          <a:p>
            <a:pPr/>
            <a:r>
              <a:rPr b="1" dirty="0" err="1" i="0" lang="en-US" sz="12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i="0" lang="en-US" sz="1200">
                <a:solidFill>
                  <a:schemeClr val="accent6"/>
                </a:solidFill>
                <a:latin typeface="Zoho Puvi"/>
                <a:hlinkClick r:id="rId2"/>
              </a:rPr>
              <a:t>C</a:t>
            </a:r>
            <a:r>
              <a:rPr b="1" dirty="0" i="0" lang="en-US" sz="1200">
                <a:solidFill>
                  <a:schemeClr val="accent6"/>
                </a:solidFill>
                <a:latin typeface="Zoho Puvi"/>
                <a:hlinkClick r:id="rId3"/>
              </a:rPr>
              <a:t>loud</a:t>
            </a:r>
            <a:r>
              <a:rPr b="1" dirty="0" err="1" i="0" lang="en-US" sz="1200">
                <a:solidFill>
                  <a:schemeClr val="accent6"/>
                </a:solidFill>
                <a:latin typeface="Zoho Puvi"/>
              </a:rPr>
              <a:t>)</a:t>
            </a:r>
            <a:endParaRPr b="1" dirty="0" err="1" i="0" lang="en-US" sz="12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311B5A56-3C37-4220-91A0-CD02DE9C429A}">
                <a16:creationId xmlns:a16="http://schemas.microsoft.com/office/drawing/2010/main" id="{5FACEB6C-F85D-4D45-89FA-5F09610FACC9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04950"/>
            <a:ext cx="7620000" cy="3048000"/>
          </a:xfr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Built-in Universal Directory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Identity life cycle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Orchestration and smart templates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MFA for apps and endpoints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SSO for enterprise applications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Role-based access control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Access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Built-in reports</a:t>
            </a:r>
            <a:endParaRPr b="0" dirty="0" lang="en-US" sz="1400">
              <a:latin typeface="Zoho Puvi"/>
            </a:endParaRPr>
          </a:p>
        </p:txBody>
      </p:sp>
    </p:spTree>
    <p:extLst>
      <p:ext uri="{2543BA68-F9FC-409B-BD2B-151F13885B2B}">
        <p14:creationId xmlns:p14="http://schemas.microsoft.com/office/powerpoint/2010/main" val="173496210378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DC079AD-4B5F-40D1-8EB5-7AF7D6138DE1}">
                <a16:creationId xmlns:a16="http://schemas.microsoft.com/office/drawing/2010/main" id="{5C1455CD-8F87-4997-9313-82F16533DD5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13994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M365 Manager Plus</a:t>
            </a:r>
          </a:p>
          <a:p>
            <a:pPr/>
            <a:r>
              <a:rPr b="1" dirty="0" i="0" lang="en-US" sz="1400">
                <a:latin typeface="Zoho Puvi"/>
              </a:rPr>
              <a:t>Microsoft 365 management, reporting, and auditing </a:t>
            </a:r>
          </a:p>
          <a:p>
            <a:pPr/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2"/>
              </a:rPr>
              <a:t>O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3"/>
              </a:rPr>
              <a:t>n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4"/>
              </a:rPr>
              <a:t>-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5"/>
              </a:rPr>
              <a:t>premises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err="1" i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6E92600B-7FE4-4AF2-B396-D5AA95ED8510}">
                <a16:creationId xmlns:a16="http://schemas.microsoft.com/office/drawing/2010/main" id="{02746F6C-633C-4661-B8E2-226FE1AC59B9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>
            <a:no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Granular reporting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service health monitoring 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Advanced auditing 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Automated management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Template-based management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Content search</a:t>
            </a:r>
          </a:p>
          <a:p>
            <a:pPr>
              <a:lnSpc>
                <a:spcPct val="90000"/>
              </a:lnSpc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Password expiration notifications  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Help desk delegation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Exchange Online backup</a:t>
            </a:r>
            <a:endParaRPr b="0" dirty="0" lang="en-US" sz="1400">
              <a:latin typeface="Zoho Puvi"/>
            </a:endParaRPr>
          </a:p>
        </p:txBody>
      </p:sp>
    </p:spTree>
    <p:extLst>
      <p:ext uri="{1695974D-C6F3-479E-ADCE-52F0C2C82EF7}">
        <p14:creationId xmlns:p14="http://schemas.microsoft.com/office/powerpoint/2010/main" val="1734962103783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9EA3D99-F075-4573-967B-95976FEC96B1}">
                <a16:creationId xmlns:a16="http://schemas.microsoft.com/office/drawing/2010/main" id="{62A2DCF2-0549-41CB-BC93-F27AF1989D4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9914" y="2151592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Privileged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access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 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22723970-394E-458C-8EC8-7335B0339976}">
                <a16:creationId xmlns:a16="http://schemas.microsoft.com/office/drawing/2010/main" id="{D925E874-DD02-458F-A06A-14BF3A135690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29125" y="1295400"/>
            <a:ext cx="3968782" cy="2556567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lang="en-US" sz="1400">
                <a:latin typeface="Zoho Puvi"/>
              </a:rPr>
              <a:t>PAM360: </a:t>
            </a:r>
            <a:r>
              <a:rPr b="0" dirty="0" i="0" lang="en-US" sz="1400">
                <a:latin typeface="Zoho Puvi"/>
              </a:rPr>
              <a:t>Complete privileged access security for enterprises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Password Manager Pro: </a:t>
            </a:r>
            <a:r>
              <a:rPr b="0" dirty="0" i="0" lang="en-US" sz="1400">
                <a:latin typeface="Zoho Puvi"/>
              </a:rPr>
              <a:t>Privileged password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Access Manager Plus: </a:t>
            </a:r>
            <a:r>
              <a:rPr b="0" dirty="0" i="0" lang="en-US" sz="1400">
                <a:latin typeface="Zoho Puvi"/>
              </a:rPr>
              <a:t>Secure remote access and privileged session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Key Manager Plus: </a:t>
            </a:r>
            <a:r>
              <a:rPr b="0" dirty="0" i="0" lang="en-US" sz="1400">
                <a:latin typeface="Zoho Puvi"/>
              </a:rPr>
              <a:t>SSH key and </a:t>
            </a:r>
            <a:r>
              <a:rPr b="0" dirty="0" err="1" i="0" lang="en-US" sz="1400">
                <a:latin typeface="Zoho Puvi"/>
              </a:rPr>
              <a:t>SSL</a:t>
            </a:r>
            <a:r>
              <a:rPr b="0" dirty="0" i="0" lang="en-US" sz="1400">
                <a:latin typeface="Zoho Puvi"/>
              </a:rPr>
              <a:t>/</a:t>
            </a:r>
            <a:r>
              <a:rPr b="0" dirty="0" err="1" i="0" lang="en-US" sz="1400">
                <a:latin typeface="Zoho Puvi"/>
              </a:rPr>
              <a:t>TLS</a:t>
            </a:r>
            <a:r>
              <a:rPr b="0" dirty="0" i="0" lang="en-US" sz="1400">
                <a:latin typeface="Zoho Puvi"/>
              </a:rPr>
              <a:t> certificate management</a:t>
            </a:r>
            <a:endParaRPr b="0" dirty="0" i="0" lang="en-US" sz="1400">
              <a:latin typeface="Zoho Puvi"/>
            </a:endParaRPr>
          </a:p>
        </p:txBody>
      </p:sp>
    </p:spTree>
    <p:extLst>
      <p:ext uri="{FEAC7591-14A9-4BF4-A4EF-A3F50D8BE56F}">
        <p14:creationId xmlns:p14="http://schemas.microsoft.com/office/powerpoint/2010/main" val="173496210378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B343DF8-0EA6-4D1E-828D-77FA41AF3CFB}">
                <a16:creationId xmlns:a16="http://schemas.microsoft.com/office/drawing/2010/main" id="{49F0479D-C5FC-418C-A0E9-FE716EC73D0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02002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PAM360</a:t>
            </a:r>
          </a:p>
          <a:p>
            <a:pPr/>
            <a:r>
              <a:rPr b="1" dirty="0" i="0" lang="en-US" sz="1400">
                <a:latin typeface="Zoho Puvi"/>
              </a:rPr>
              <a:t>Complete privileged access security for enterprises</a:t>
            </a:r>
          </a:p>
          <a:p>
            <a:pPr/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2"/>
              </a:rPr>
              <a:t>O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3"/>
              </a:rPr>
              <a:t>n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4"/>
              </a:rPr>
              <a:t>-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5"/>
              </a:rPr>
              <a:t>premises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 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| 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  <a:hlinkClick r:id="rId6"/>
              </a:rPr>
              <a:t>MSP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err="1" i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4419CFD-B915-4800-8F54-12CD0B18DDD7}">
                <a16:creationId xmlns:a16="http://schemas.microsoft.com/office/drawing/2010/main" id="{64F74F02-A607-4905-B1C8-E4B8B4A6165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64452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Enterprise credential vault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Just-in-time privilege elevation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Secure remote access and session recording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Privileged user behavior analytics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SSH key management and </a:t>
            </a:r>
            <a:r>
              <a:rPr b="0" dirty="0" err="1" lang="en-US" sz="1400">
                <a:latin typeface="Zoho Puvi"/>
              </a:rPr>
              <a:t>SSL</a:t>
            </a:r>
            <a:r>
              <a:rPr b="0" dirty="0" lang="en-US" sz="1400">
                <a:latin typeface="Zoho Puvi"/>
              </a:rPr>
              <a:t> certificate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Application credential security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Comprehensive reporting, </a:t>
            </a:r>
            <a:r>
              <a:rPr b="0" dirty="0" lang="en-US" sz="1400">
                <a:latin typeface="Zoho Puvi"/>
              </a:rPr>
              <a:t>audit</a:t>
            </a:r>
            <a:r>
              <a:rPr b="0" dirty="0" lang="en-US" sz="1400">
                <a:latin typeface="Zoho Puvi"/>
              </a:rPr>
              <a:t>ing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and compliance</a:t>
            </a:r>
            <a:r>
              <a:rPr b="0" dirty="0" lang="en-US" sz="1400">
                <a:latin typeface="Zoho Puvi"/>
              </a:rPr>
              <a:t> reports</a:t>
            </a:r>
            <a:endParaRPr b="0" dirty="0" lang="en-US" sz="1400">
              <a:latin typeface="Zoho Puvi"/>
            </a:endParaRPr>
          </a:p>
        </p:txBody>
      </p:sp>
    </p:spTree>
    <p:extLst>
      <p:ext uri="{B94688FF-55B6-46B4-BB63-C9E27E0A3879}">
        <p14:creationId xmlns:p14="http://schemas.microsoft.com/office/powerpoint/2010/main" val="1734962103785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77DC177-35E7-4808-8C14-DF6BAA172DD4}">
                <a16:creationId xmlns:a16="http://schemas.microsoft.com/office/drawing/2010/main" id="{CB671C4A-C9EF-46CF-9B49-884ACB41183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91944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Password Manager Pro</a:t>
            </a:r>
          </a:p>
          <a:p>
            <a:pPr/>
            <a:r>
              <a:rPr b="1" dirty="0" i="0" lang="en-US" sz="1400">
                <a:latin typeface="Zoho Puvi"/>
              </a:rPr>
              <a:t>Privileged password management</a:t>
            </a:r>
          </a:p>
          <a:p>
            <a:pPr/>
            <a:r>
              <a:rPr b="1" dirty="0" i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i="0" lang="en-US" sz="12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i="0" lang="en-US" sz="1200">
                <a:solidFill>
                  <a:srgbClr val="c1408a"/>
                </a:solidFill>
                <a:latin typeface="Zoho Puvi"/>
              </a:rPr>
              <a:t> | </a:t>
            </a:r>
            <a:r>
              <a:rPr b="1" dirty="0" err="1" i="0" lang="en-US" sz="1200">
                <a:solidFill>
                  <a:srgbClr val="c1408a"/>
                </a:solidFill>
                <a:latin typeface="Zoho Puvi"/>
                <a:hlinkClick r:id="rId3"/>
              </a:rPr>
              <a:t>MSP</a:t>
            </a:r>
            <a:r>
              <a:rPr b="1" dirty="0" i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i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4F0EFF11-6D8F-4D6D-BBDA-D1ED313AF587}">
                <a16:creationId xmlns:a16="http://schemas.microsoft.com/office/drawing/2010/main" id="{4D3EEE3A-33B4-4EA9-86A1-8CD727F97820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‌</a:t>
            </a:r>
            <a:r>
              <a:rPr b="0" dirty="0" lang="en-US" sz="1400">
                <a:latin typeface="Zoho Puvi"/>
              </a:rPr>
              <a:t>‌</a:t>
            </a:r>
            <a:r>
              <a:rPr b="0" dirty="0" lang="en-US" sz="1400">
                <a:latin typeface="Zoho Puvi"/>
              </a:rPr>
              <a:t>Privileged account discovery and vaulting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Granular access control mechanism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Approval workflows for privileged access requests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Automated password resets for 75+ resource types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Application password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DevOps</a:t>
            </a:r>
            <a:r>
              <a:rPr b="0" dirty="0" lang="en-US" sz="1400">
                <a:latin typeface="Zoho Puvi"/>
              </a:rPr>
              <a:t> credential security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SSH key and </a:t>
            </a:r>
            <a:r>
              <a:rPr b="0" dirty="0" err="1" lang="en-US" sz="1400">
                <a:latin typeface="Zoho Puvi"/>
              </a:rPr>
              <a:t>SSL</a:t>
            </a:r>
            <a:r>
              <a:rPr b="0" dirty="0" lang="en-US" sz="1400">
                <a:latin typeface="Zoho Puvi"/>
              </a:rPr>
              <a:t> certificate</a:t>
            </a:r>
            <a:r>
              <a:rPr b="0" dirty="0" lang="en-US" sz="1400">
                <a:latin typeface="Zoho Puvi"/>
              </a:rPr>
              <a:t> life</a:t>
            </a:r>
            <a:r>
              <a:rPr b="0" dirty="0" lang="en-US" sz="1400">
                <a:latin typeface="Zoho Puvi"/>
              </a:rPr>
              <a:t> </a:t>
            </a:r>
            <a:r>
              <a:rPr b="0" dirty="0" lang="en-US" sz="1400">
                <a:latin typeface="Zoho Puvi"/>
              </a:rPr>
              <a:t>cycle management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Compliance auditing and reporting</a:t>
            </a:r>
            <a:endParaRPr b="0" dirty="0" lang="en-US" sz="1400">
              <a:latin typeface="Zoho Puvi"/>
            </a:endParaRPr>
          </a:p>
        </p:txBody>
      </p:sp>
    </p:spTree>
    <p:extLst>
      <p:ext uri="{53C37414-0CA6-487F-81BF-58D4A86F27D4}">
        <p14:creationId xmlns:p14="http://schemas.microsoft.com/office/powerpoint/2010/main" val="1734962103786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F41B2FB-F0B3-4F2C-8315-5B8C5E02AB25}">
                <a16:creationId xmlns:a16="http://schemas.microsoft.com/office/drawing/2010/main" id="{2A2847CB-6B42-4C7D-A22C-70CFC30E372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5384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Access Manager Plus</a:t>
            </a:r>
          </a:p>
          <a:p>
            <a:pPr/>
            <a:r>
              <a:rPr b="1" dirty="0" lang="en-US" sz="1400">
                <a:latin typeface="Zoho Puvi"/>
              </a:rPr>
              <a:t>Privileged session management</a:t>
            </a:r>
          </a:p>
          <a:p>
            <a:pPr/>
            <a:r>
              <a:rPr b="1" dirty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332EACED-5C6B-4DF8-BD8F-40641F096FAE}">
                <a16:creationId xmlns:a16="http://schemas.microsoft.com/office/drawing/2010/main" id="{14AD7E3C-1E42-4A3B-B3E7-0C433076CE72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4668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One-click remote sessions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RemoteApp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support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Bi-directional remote file transfer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Jump box support for Windows and Linux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Privileged session management and recording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Live monitoring and collaboration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In-depth audit trails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A3823DB9-E3D9-40F3-9C5D-8DB43C01537F}">
        <p14:creationId xmlns:p14="http://schemas.microsoft.com/office/powerpoint/2010/main" val="1734962103787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1778FBD-F193-4899-8D60-E3292B7F3C83}">
                <a16:creationId xmlns:a16="http://schemas.microsoft.com/office/drawing/2010/main" id="{8F1E6FD1-D1FD-44CC-9EC7-80A92690850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691944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Key Manager Plus</a:t>
            </a:r>
          </a:p>
          <a:p>
            <a:pPr/>
            <a:r>
              <a:rPr b="1" dirty="0" lang="en-US" sz="1400">
                <a:latin typeface="Zoho Puvi"/>
              </a:rPr>
              <a:t>SSH</a:t>
            </a:r>
            <a:r>
              <a:rPr b="1" dirty="0" lang="en-US" sz="1400">
                <a:latin typeface="Zoho Puvi"/>
              </a:rPr>
              <a:t> key and </a:t>
            </a:r>
            <a:r>
              <a:rPr b="1" dirty="0" err="1" lang="en-US" sz="1400">
                <a:latin typeface="Zoho Puvi"/>
              </a:rPr>
              <a:t>SSL</a:t>
            </a:r>
            <a:r>
              <a:rPr b="1" dirty="0" lang="en-US" sz="1400">
                <a:latin typeface="Zoho Puvi"/>
              </a:rPr>
              <a:t> </a:t>
            </a:r>
            <a:r>
              <a:rPr b="1" dirty="0" lang="en-US" sz="1400">
                <a:latin typeface="Zoho Puvi"/>
              </a:rPr>
              <a:t>certificate management</a:t>
            </a:r>
          </a:p>
          <a:p>
            <a:pPr/>
            <a:r>
              <a:rPr b="1" dirty="0" lang="en-US" sz="12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2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E1D348B5-825C-4AB8-A449-E90CB7F555D3}">
                <a16:creationId xmlns:a16="http://schemas.microsoft.com/office/drawing/2010/main" id="{2696BF58-E7CD-4E9C-9AC1-D64110D6AC2A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049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Automated discovery and vaulting of SSH keys and </a:t>
            </a:r>
            <a:r>
              <a:rPr b="0" dirty="0" err="1" lang="en-US" sz="1400">
                <a:latin typeface="Zoho Puvi"/>
              </a:rPr>
              <a:t>SSL</a:t>
            </a:r>
            <a:r>
              <a:rPr b="0" dirty="0" lang="en-US" sz="1400">
                <a:latin typeface="Zoho Puvi"/>
              </a:rPr>
              <a:t> certificates ‌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Centralized key creation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deployment, and periodic rotation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One-click remote SSH connections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Policy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based </a:t>
            </a:r>
            <a:r>
              <a:rPr b="0" dirty="0" err="1" lang="en-US" sz="1400">
                <a:latin typeface="Zoho Puvi"/>
              </a:rPr>
              <a:t>CSR</a:t>
            </a:r>
            <a:r>
              <a:rPr b="0" dirty="0" lang="en-US" sz="1400">
                <a:latin typeface="Zoho Puvi"/>
              </a:rPr>
              <a:t> generation and signing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Out-of-the-box integration with Let's Encrypt, </a:t>
            </a:r>
            <a:r>
              <a:rPr b="0" dirty="0" err="1" lang="en-US" sz="1400">
                <a:latin typeface="Zoho Puvi"/>
              </a:rPr>
              <a:t>DigiCert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and more </a:t>
            </a:r>
          </a:p>
          <a:p>
            <a:pPr>
              <a:buClr>
                <a:schemeClr val="tx1"/>
              </a:buClr>
            </a:pPr>
            <a:r>
              <a:rPr b="0" dirty="0" err="1" lang="en-US" sz="1400">
                <a:latin typeface="Zoho Puvi"/>
              </a:rPr>
              <a:t>SSL</a:t>
            </a:r>
            <a:r>
              <a:rPr b="0" dirty="0" lang="en-US" sz="1400">
                <a:latin typeface="Zoho Puvi"/>
              </a:rPr>
              <a:t> vulnerability scanning and certificate expir</a:t>
            </a:r>
            <a:r>
              <a:rPr b="0" dirty="0" lang="en-US" sz="1400">
                <a:latin typeface="Zoho Puvi"/>
              </a:rPr>
              <a:t>ation</a:t>
            </a:r>
            <a:r>
              <a:rPr b="0" dirty="0" lang="en-US" sz="1400">
                <a:latin typeface="Zoho Puvi"/>
              </a:rPr>
              <a:t> alert</a:t>
            </a:r>
            <a:r>
              <a:rPr b="0" dirty="0" lang="en-US" sz="1400">
                <a:latin typeface="Zoho Puvi"/>
              </a:rPr>
              <a:t>s</a:t>
            </a:r>
            <a:endParaRPr b="0" dirty="0" lang="en-US" sz="1400">
              <a:latin typeface="Zoho Puvi"/>
            </a:endParaRPr>
          </a:p>
        </p:txBody>
      </p:sp>
    </p:spTree>
    <p:extLst>
      <p:ext uri="{985FF048-FF3F-441D-86FB-FF0671AF9D05}">
        <p14:creationId xmlns:p14="http://schemas.microsoft.com/office/powerpoint/2010/main" val="173496210378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8399B65B-97D7-4950-AEC5-F0818BCE2D17}">
                <a16:creationId xmlns:a16="http://schemas.microsoft.com/office/drawing/2010/main" id="{CA4DBE2B-431E-46DF-8999-4E77B769DB23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69489A11-4DDD-43BB-ACF2-00E134094E41}">
                <a16:creationId xmlns:a16="http://schemas.microsoft.com/office/drawing/2010/main" id="{A26F5BC0-ECF2-4957-9B1F-4D843C0413BD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3F5BFA0D-0525-4CB9-8056-B6152E5B3E2B}">
                <a16:creationId xmlns:a16="http://schemas.microsoft.com/office/drawing/2010/main" id="{BFD3A11B-CEA7-4677-B05A-9DF7D85D38C5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FE2D0BC0-9547-469A-9958-03FFB8F81C33}">
        <p14:creationId xmlns:p14="http://schemas.microsoft.com/office/powerpoint/2010/main" val="1734962103789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2" val="Zoho Puvi-demi_bold"/>
  <p:tag name="webfont9" val="Open Sans-demi_bold"/>
  <p:tag name="webfont4" val="Zoho Puvi-heavy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2024-11-13T01:52:50Z</dcterms:created>
  <dcterms:modified xsi:type="dcterms:W3CDTF">2024-11-13T02:26:11Z</dcterms:modified>
</cp:coreProperties>
</file>