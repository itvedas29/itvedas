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vnd.openxmlformats-officedocument.presentationml.tags+xml" PartName="/ppt/tags/tag3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ppt/media/img_cc_black.png" Type="http://schemas.openxmlformats.org/officeDocument/2006/relationships/image"/><Relationship Id="rId10" Target="ppt/presentation.xml" Type="http://schemas.openxmlformats.org/officeDocument/2006/relationships/officeDocument"/><Relationship Id="rId11" Target="docProps/core.xml" Type="http://schemas.openxmlformats.org/package/2006/relationships/metadata/core-properties"/><Relationship Id="rId12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9144000" cy="5143500" type="screen16x9"/>
  <p:notesSz cx="9144000" cy="5143500"/>
  <p:embeddedFontLst>
    <p:embeddedFont>
      <p:font typeface="Zoho Puvi"/>
      <p:regular r:id="rId27"/>
      <p:bold r:id="rId28"/>
    </p:embeddedFont>
    <p:embeddedFont>
      <p:font typeface="Roboto"/>
      <p:regular r:id="rId30"/>
    </p:embeddedFont>
    <p:embeddedFont>
      <p:font typeface="Zoho Puvi-heavy"/>
      <p:regular r:id="rId29"/>
    </p:embeddedFont>
    <p:embeddedFont>
      <p:font typeface="Open Sans-demi_bold"/>
      <p:regular r:id="rId32"/>
    </p:embeddedFont>
    <p:embeddedFont>
      <p:font typeface="Open Sans"/>
      <p:regular r:id="rId31"/>
      <p:bold r:id="rId33"/>
    </p:embeddedFont>
  </p:embeddedFontLst>
  <p:custDataLst>
    <p:tags r:id="rId34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slides/slide13.xml" Type="http://schemas.openxmlformats.org/officeDocument/2006/relationships/slide"/><Relationship Id="rId18" Target="slides/slide14.xml" Type="http://schemas.openxmlformats.org/officeDocument/2006/relationships/slide"/><Relationship Id="rId19" Target="slides/slide15.xml" Type="http://schemas.openxmlformats.org/officeDocument/2006/relationships/slide"/><Relationship Id="rId20" Target="slides/slide16.xml" Type="http://schemas.openxmlformats.org/officeDocument/2006/relationships/slide"/><Relationship Id="rId21" Target="slides/slide17.xml" Type="http://schemas.openxmlformats.org/officeDocument/2006/relationships/slide"/><Relationship Id="rId22" Target="slides/slide18.xml" Type="http://schemas.openxmlformats.org/officeDocument/2006/relationships/slide"/><Relationship Id="rId23" Target="slides/slide19.xml" Type="http://schemas.openxmlformats.org/officeDocument/2006/relationships/slide"/><Relationship Id="rId24" Target="slides/slide20.xml" Type="http://schemas.openxmlformats.org/officeDocument/2006/relationships/slide"/><Relationship Id="rId25" Target="slides/slide21.xml" Type="http://schemas.openxmlformats.org/officeDocument/2006/relationships/slide"/><Relationship Id="rId26" Target="tableStyles.xml" Type="http://schemas.openxmlformats.org/officeDocument/2006/relationships/tableStyles"/><Relationship Id="rId27" Target="fonts/font1.fntdata" Type="http://schemas.openxmlformats.org/officeDocument/2006/relationships/font"/><Relationship Id="rId28" Target="fonts/font2.fntdata" Type="http://schemas.openxmlformats.org/officeDocument/2006/relationships/font"/><Relationship Id="rId29" Target="fonts/font3.fntdata" Type="http://schemas.openxmlformats.org/officeDocument/2006/relationships/font"/><Relationship Id="rId30" Target="fonts/font4.fntdata" Type="http://schemas.openxmlformats.org/officeDocument/2006/relationships/font"/><Relationship Id="rId31" Target="fonts/font5.fntdata" Type="http://schemas.openxmlformats.org/officeDocument/2006/relationships/font"/><Relationship Id="rId32" Target="fonts/font6.fntdata" Type="http://schemas.openxmlformats.org/officeDocument/2006/relationships/font"/><Relationship Id="rId33" Target="fonts/font7.fntdata" Type="http://schemas.openxmlformats.org/officeDocument/2006/relationships/font"/><Relationship Id="rId34" Target="tags/tag3.xml" Type="http://schemas.openxmlformats.org/officeDocument/2006/relationships/tags"/><Relationship Id="rId35" Target="presProps.xml" Type="http://schemas.openxmlformats.org/officeDocument/2006/relationships/presProps"/><Relationship Id="rId36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2" Target="../media/image4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423C546-5C63-4EB0-ABA0-9E22FBAAD623}">
                <a16:creationId xmlns:a16="http://schemas.microsoft.com/office/drawing/2010/main" id="{9F7D277C-EE37-4D68-8E99-FB1E6799D89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0CD0919F-1D52-459E-B414-0D861F8BB9C4}">
                <a16:creationId xmlns:a16="http://schemas.microsoft.com/office/drawing/2010/main" id="{14AD1E81-FC70-414E-A7E7-3CF7BA11241C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C544F2FA-7B8E-4456-919C-B3F34D21E5F7}">
                <a16:creationId xmlns:a16="http://schemas.microsoft.com/office/drawing/2010/main" id="{A3273674-6A9B-40C5-8E19-4691E416517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5008B7C7-F69E-48EA-9248-AA97F7119D95}">
                <a16:creationId xmlns:a16="http://schemas.microsoft.com/office/drawing/2010/main" id="{30E5E638-8F1D-4651-ADC9-A0A4B599D63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80C29265-24A6-4206-BD94-74359A99B1E9}">
                <a16:creationId xmlns:a16="http://schemas.microsoft.com/office/drawing/2010/main" id="{ACC9B88A-A99A-4267-A2A1-30248321FA7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A635B09D-3897-4636-993A-A139DD81A310}">
        <p14:creationId xmlns:p14="http://schemas.microsoft.com/office/powerpoint/2010/main" val="1734962043762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AC84E7A-6E2E-45B4-A533-7D89591BF4C4}">
                <a16:creationId xmlns:a16="http://schemas.microsoft.com/office/drawing/2010/main" id="{D63A7343-49D4-4ABD-B63F-46D4F76F6DA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>
              <a:defRPr b="1" dirty="0" lang="en-US">
                <a:latin typeface="Zoho Puvi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1FB01FEB-67C2-46AA-8646-B6C0B7D90500}">
                <a16:creationId xmlns:a16="http://schemas.microsoft.com/office/drawing/2010/main" id="{A44CB2E2-4DED-46A1-91BE-B9187522901B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>
              <a:defRPr b="0" dirty="0" lang="en-US">
                <a:latin typeface="Zoho Puvi"/>
              </a:defRPr>
            </a:lvl1pPr>
            <a:lvl2pPr lvl="1">
              <a:defRPr b="0" dirty="0" lang="en-US">
                <a:latin typeface="Zoho Puvi"/>
              </a:defRPr>
            </a:lvl2pPr>
            <a:lvl3pPr lvl="2">
              <a:defRPr b="0" dirty="0" lang="en-US">
                <a:latin typeface="Zoho Puvi"/>
              </a:defRPr>
            </a:lvl3pPr>
            <a:lvl4pPr lvl="3">
              <a:defRPr b="0" dirty="0" lang="en-US">
                <a:latin typeface="Zoho Puvi"/>
              </a:defRPr>
            </a:lvl4pPr>
            <a:lvl5pPr lvl="4">
              <a:defRPr b="0" dirty="0" lang="en-US">
                <a:latin typeface="Zoho Puvi"/>
              </a:defRPr>
            </a:lvl5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0B43161A-9037-4108-B8C4-956942FCAF52}">
                <a16:creationId xmlns:a16="http://schemas.microsoft.com/office/drawing/2010/main" id="{257FE886-3E96-4B19-A040-EEB46E37D1C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26D7ADDF-7EF1-42CD-8A45-40C8298DB12F}">
                <a16:creationId xmlns:a16="http://schemas.microsoft.com/office/drawing/2010/main" id="{220036E2-89CB-4508-B0E7-4DD6ECD38F0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A133FF94-7DAA-4663-BCC8-7900479DA42F}">
                <a16:creationId xmlns:a16="http://schemas.microsoft.com/office/drawing/2010/main" id="{B131351C-4788-4838-8D90-7967F9DD58F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B1D876DA-3060-415D-A838-3AECD6390E29}">
                <a16:creationId xmlns:a16="http://schemas.microsoft.com/office/drawing/2010/main" id="{9E43BA93-6FD9-4D8B-8FA3-BF1117307B5C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9F97ECC5-DD29-4C63-9200-57465E1804FA}">
        <p14:creationId xmlns:p14="http://schemas.microsoft.com/office/powerpoint/2010/main" val="1734962043763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Text Placeholder 2">
            <a:extLst>
              <a:ext uri="{2646EA25-585F-484B-B5B8-CD332E0739B8}">
                <a16:creationId xmlns:a16="http://schemas.microsoft.com/office/drawing/2010/main" id="{3967A572-49AF-401C-A789-15D1A87C8FA4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true" id="3" name="Title 1">
            <a:extLst>
              <a:ext uri="{AB79BE68-FA52-47B3-959C-C23E2711B660}">
                <a16:creationId xmlns:a16="http://schemas.microsoft.com/office/drawing/2010/main" id="{BB719B44-FEB2-4A6D-9DA1-6A5AFF9DF91A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A81D5F5F-6C08-4CAC-AB60-B649F8D59E86}">
                <a16:creationId xmlns:a16="http://schemas.microsoft.com/office/drawing/2010/main" id="{49C15BC6-DFF6-46A7-A7DA-49E4806438E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1A4F2E72-F27B-4F58-B645-21DC65101C80}">
                <a16:creationId xmlns:a16="http://schemas.microsoft.com/office/drawing/2010/main" id="{3EFF8B30-6A6C-44F1-8536-3798FBEBCD7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A9D45032-1B52-4708-BED1-EC4F7379E5FB}">
                <a16:creationId xmlns:a16="http://schemas.microsoft.com/office/drawing/2010/main" id="{41874625-7CCE-4D19-B9CC-05E64FBE9B9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7" name="">
            <a:extLst>
              <a:ext uri="{30DE7B6A-FE21-4A9A-AA10-EEE85DCE4982}">
                <a16:creationId xmlns:a16="http://schemas.microsoft.com/office/drawing/2010/main" id="{3573C8AB-E86E-4F33-954D-4AA61045C1CA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>
            <a:off x="0" y="0"/>
            <a:ext cx="9144000" cy="5143500"/>
          </a:xfrm>
          <a:prstGeom prst="rect">
            <a:avLst/>
          </a:prstGeom>
          <a:noFill/>
        </p:spPr>
      </p:pic>
    </p:spTree>
    <p:extLst>
      <p:ext uri="{6C5F6378-E6C7-404F-AEE0-F1782F083E8E}">
        <p14:creationId xmlns:p14="http://schemas.microsoft.com/office/powerpoint/2010/main" val="1734962043764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5557F496-794F-43F5-B32B-9F4DBE9F608B}">
                <a16:creationId xmlns:a16="http://schemas.microsoft.com/office/drawing/2010/main" id="{D53A18D6-CEE6-4BB2-B2AF-325F100CF530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true" flipV="false" rot="0">
            <a:off x="770" y="0"/>
            <a:ext cx="9144000" cy="5143500"/>
          </a:xfrm>
          <a:prstGeom prst="rect">
            <a:avLst/>
          </a:prstGeom>
          <a:noFill/>
        </p:spPr>
      </p:pic>
      <p:sp>
        <p:nvSpPr>
          <p:cNvPr hidden="true" id="3" name="Title 1">
            <a:extLst>
              <a:ext uri="{48799A01-E5D3-46CD-9BEC-137C495C0E58}">
                <a16:creationId xmlns:a16="http://schemas.microsoft.com/office/drawing/2010/main" id="{297EB593-24C8-4AD8-9375-9AF8D555D94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true" id="4" name="Content Placeholder 2">
            <a:extLst>
              <a:ext uri="{A31144AA-A28B-40E9-84AF-F1BB4210DCB2}">
                <a16:creationId xmlns:a16="http://schemas.microsoft.com/office/drawing/2010/main" id="{EBFB9BEB-DA8A-4248-BABB-A02AB79CD7D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true" id="5" name="Content Placeholder 2">
            <a:extLst>
              <a:ext uri="{3256AF20-D9EE-4A1E-967F-CF7943BF6B97}">
                <a16:creationId xmlns:a16="http://schemas.microsoft.com/office/drawing/2010/main" id="{813F6E76-4921-4975-B57D-DB192CE9A4D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6" name="Slide Number Placeholder 6">
            <a:extLst>
              <a:ext uri="{32D33571-7A74-4C72-9492-02EC4ABC06AF}">
                <a16:creationId xmlns:a16="http://schemas.microsoft.com/office/drawing/2010/main" id="{C97741A8-8BC9-44C9-AE15-9B80BCAF725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5">
            <a:extLst>
              <a:ext uri="{B2E51F80-3CFF-4955-B1EE-E25545405F23}">
                <a16:creationId xmlns:a16="http://schemas.microsoft.com/office/drawing/2010/main" id="{7D3D3F39-5F2E-4473-8576-EFBC05EE61A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4">
            <a:extLst>
              <a:ext uri="{867A0E98-6AA7-4303-91DF-53BBDA43F56D}">
                <a16:creationId xmlns:a16="http://schemas.microsoft.com/office/drawing/2010/main" id="{63E8D7E8-AB82-43FE-BE16-A0C0659976C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3D103994-E183-4DEB-BCD8-288FCFD743E4}">
        <p14:creationId xmlns:p14="http://schemas.microsoft.com/office/powerpoint/2010/main" val="1734962043765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78104F2D-24D0-4BD8-B0AF-D3B411110E97}">
                <a16:creationId xmlns:a16="http://schemas.microsoft.com/office/drawing/2010/main" id="{60BBBD1E-0C87-4D73-ABB3-56E52C1D3E63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3A195F79-EFD5-4D9B-958E-EA67A34A29AF}">
                <a16:creationId xmlns:a16="http://schemas.microsoft.com/office/drawing/2010/main" id="{0B18DD40-5353-4402-B5FB-A93FE3268597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DBF9E43C-EF57-4BAD-A4F0-D8EB6AAB5C27}">
                <a16:creationId xmlns:a16="http://schemas.microsoft.com/office/drawing/2010/main" id="{69954CF6-B5DD-4B18-A3F2-7955435603AF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E323D20D-0879-4E2A-8D5C-78A456D61595}">
                <a16:creationId xmlns:a16="http://schemas.microsoft.com/office/drawing/2010/main" id="{506A8C8B-1E4A-4003-BAAA-65BE15568112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677324F5-9734-45CE-A8F6-0E081E12DCE7}">
                <a16:creationId xmlns:a16="http://schemas.microsoft.com/office/drawing/2010/main" id="{7AF747C6-8513-4621-99C4-239BDE0C8077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D51E1FE0-56E7-44AC-80B2-82FF909D2B90}">
                <a16:creationId xmlns:a16="http://schemas.microsoft.com/office/drawing/2010/main" id="{34A17167-1915-4E56-9CE4-F4474CD070F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E544D4B9-E8F4-404C-AE92-325CBB865DE0}">
                <a16:creationId xmlns:a16="http://schemas.microsoft.com/office/drawing/2010/main" id="{8A94264F-352E-4B00-8CF3-BC461D6E1FB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E504562C-DA64-4565-877F-829FDE0CEB8B}">
                <a16:creationId xmlns:a16="http://schemas.microsoft.com/office/drawing/2010/main" id="{F2E9E715-B4EA-45D7-BF7F-F8653C2EC30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5C307EBC-D6F9-4687-8737-74CC88727600}">
        <p14:creationId xmlns:p14="http://schemas.microsoft.com/office/powerpoint/2010/main" val="1734962043766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062F5E7-87E0-49E9-AD81-55747C722C9A}">
                <a16:creationId xmlns:a16="http://schemas.microsoft.com/office/drawing/2010/main" id="{E541A7D2-93F5-4635-8449-C5E43E8354E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53A5DBBA-C9F4-40BE-926B-A6ADC6F53BD5}">
                <a16:creationId xmlns:a16="http://schemas.microsoft.com/office/drawing/2010/main" id="{7C7085C3-F82D-4F6C-ACAC-18819FB4D34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B012E134-0073-40DB-9451-E84BFAF2D70E}">
                <a16:creationId xmlns:a16="http://schemas.microsoft.com/office/drawing/2010/main" id="{122EDDC3-4623-46F6-98B8-EB69303227E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E57986D9-7614-4561-B6C9-BF85CB36FD44}">
                <a16:creationId xmlns:a16="http://schemas.microsoft.com/office/drawing/2010/main" id="{7BC23E1A-C97A-4142-BFAD-888973FAA3A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pic>
        <p:nvPicPr>
          <p:cNvPr id="6" name="">
            <a:extLst>
              <a:ext uri="{23AB4A09-DE04-4983-9C31-525BF64F71B1}">
                <a16:creationId xmlns:a16="http://schemas.microsoft.com/office/drawing/2010/main" id="{10068E81-B7EA-47BA-884A-50406421C3D1}"/>
              </a:ext>
            </a:extLst>
          </p:cNvPr>
          <p:cNvPicPr>
            <a:picLocks noChangeAspect="true"/>
          </p:cNvPicPr>
          <p:nvPr userDrawn="1"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1337786" cy="1083954"/>
          </a:xfrm>
          <a:prstGeom prst="rect">
            <a:avLst/>
          </a:prstGeom>
          <a:noFill/>
        </p:spPr>
      </p:pic>
    </p:spTree>
    <p:extLst>
      <p:ext uri="{5F3CA852-EF6D-43A1-B3AA-AA6617699440}">
        <p14:creationId xmlns:p14="http://schemas.microsoft.com/office/powerpoint/2010/main" val="173496204376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D4AA9657-C469-414D-84F6-6ED2921B1341}">
                <a16:creationId xmlns:a16="http://schemas.microsoft.com/office/drawing/2010/main" id="{4FCBAE00-644D-4286-AC35-3B600F91286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37687A56-B0B0-48DC-94CC-A907F6531961}">
                <a16:creationId xmlns:a16="http://schemas.microsoft.com/office/drawing/2010/main" id="{193DC206-F06D-4280-8F57-68DAF5EA41E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8F611B42-8735-4C6B-B82E-E7959EF8592E}">
                <a16:creationId xmlns:a16="http://schemas.microsoft.com/office/drawing/2010/main" id="{54EEEF19-858E-4E23-B5B3-007DC31CFC3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2C8F1C53-3933-4987-9FD1-D338E4960F7B}">
        <p14:creationId xmlns:p14="http://schemas.microsoft.com/office/powerpoint/2010/main" val="1734962043768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771C86C-CBF0-4F15-BF3A-2AAA55791BC8}">
                <a16:creationId xmlns:a16="http://schemas.microsoft.com/office/drawing/2010/main" id="{96919C6E-0076-4276-A756-D24ADA92947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35FDB986-544C-447D-8D2D-21DDAD4101E7}">
                <a16:creationId xmlns:a16="http://schemas.microsoft.com/office/drawing/2010/main" id="{BB5B6263-72B6-4806-8EEE-D0CBB91D7C4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D95FDC61-63BC-4319-B3EF-991DFB16917B}">
                <a16:creationId xmlns:a16="http://schemas.microsoft.com/office/drawing/2010/main" id="{837D0370-BA0D-494D-BD0B-B84FBE84F5F0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4FA5CBAA-F00C-430A-9408-C815E57F6A7B}">
                <a16:creationId xmlns:a16="http://schemas.microsoft.com/office/drawing/2010/main" id="{29F6A8B7-0124-444E-A5BC-79D34F83E2A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9C004990-4B24-485B-AAA8-CAE07583D461}">
                <a16:creationId xmlns:a16="http://schemas.microsoft.com/office/drawing/2010/main" id="{33EE1604-2568-4874-B791-889CFB32ADA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9F9F4652-B8C6-448F-971A-FC4C50A8AB6C}">
                <a16:creationId xmlns:a16="http://schemas.microsoft.com/office/drawing/2010/main" id="{F69666BB-FF2E-422A-9944-8B3C1C3A9CE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3693936D-C029-46F0-BADA-2D8D4AE78F60}">
        <p14:creationId xmlns:p14="http://schemas.microsoft.com/office/powerpoint/2010/main" val="1734962043769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D5CD17F0-BBD1-4009-B970-A69FCB74C8FF}">
                <a16:creationId xmlns:a16="http://schemas.microsoft.com/office/drawing/2010/main" id="{313AB5C0-7E78-4A6A-A4CC-383F9B982F18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37AFDC05-1C9E-4F81-96F1-FF53B8B25A51}">
                <a16:creationId xmlns:a16="http://schemas.microsoft.com/office/drawing/2010/main" id="{F426F8F4-2587-4E4B-9C50-64D48113BD1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C2D1EEDD-14F2-454F-9D4F-5013E8AE4381}">
                <a16:creationId xmlns:a16="http://schemas.microsoft.com/office/drawing/2010/main" id="{068FE18F-5AD9-4D06-954E-3BFE9F97194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ECAF8D0E-88FD-404B-BD5B-270704F20D42}">
                <a16:creationId xmlns:a16="http://schemas.microsoft.com/office/drawing/2010/main" id="{6255E123-9C59-4F4A-91B0-01A7B0DEAD0F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012AA212-800C-46E7-8DAB-098178583189}">
                <a16:creationId xmlns:a16="http://schemas.microsoft.com/office/drawing/2010/main" id="{2FD52EF7-2A5E-4BB2-9049-2E820F54707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4EA92C0B-FD53-49FB-B258-0944950ED2A3}">
                <a16:creationId xmlns:a16="http://schemas.microsoft.com/office/drawing/2010/main" id="{67CDAD8A-146D-420D-B158-0BB3256E878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B0CAAE93-D3F5-4503-B8C8-7961C3E0E595}">
                <a16:creationId xmlns:a16="http://schemas.microsoft.com/office/drawing/2010/main" id="{30234CA7-F5B3-461B-AD98-7FB90D984DD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CE62BC65-7643-4BF8-9871-92466E85F04E}">
        <p14:creationId xmlns:p14="http://schemas.microsoft.com/office/powerpoint/2010/main" val="1734962043770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9961BD77-AF57-4C31-ADA5-0784A9F360BB}">
                <a16:creationId xmlns:a16="http://schemas.microsoft.com/office/drawing/2010/main" id="{7458FB70-3C9B-4F8D-A60A-47ADB243D673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44D5ABD5-EF5B-4E10-8CEC-9275EEA8F39D}">
                <a16:creationId xmlns:a16="http://schemas.microsoft.com/office/drawing/2010/main" id="{A619EF02-8BA9-4F9B-8143-FE047D8A10A3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5837D91B-7F2B-4E14-960D-079FDA68342A}">
                <a16:creationId xmlns:a16="http://schemas.microsoft.com/office/drawing/2010/main" id="{C7CF5154-B16C-43FB-A1EE-086DBD903E9B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84E206B5-1BCC-4C07-8072-75CB2F588BBE}">
                <a16:creationId xmlns:a16="http://schemas.microsoft.com/office/drawing/2010/main" id="{A4A8A523-F123-44DB-A84C-A911DE2FAEF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7794F9BB-A44E-4066-9E9D-A15A5923CDAC}">
                <a16:creationId xmlns:a16="http://schemas.microsoft.com/office/drawing/2010/main" id="{E6544992-C0C9-4154-9B0F-0D4D36523F4C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062138F9-282E-4975-AD39-940E04A54D33}">
                <a16:creationId xmlns:a16="http://schemas.microsoft.com/office/drawing/2010/main" id="{471545CC-D8FF-4C59-A3F5-5DCE0F294CFE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83B4EEDB-7A53-45FE-9A4D-56751AC8DB07}">
                <a16:creationId xmlns:a16="http://schemas.microsoft.com/office/drawing/2010/main" id="{47E2B542-2BCB-4857-BB44-0F2D4FFD89B0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C83E11CC-7CFC-4B37-BFC9-3B33905E906E}">
                <a16:creationId xmlns:a16="http://schemas.microsoft.com/office/drawing/2010/main" id="{C13EAC85-B6F4-4D0E-B9AD-4DB846BD0664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39F3D8E6-9918-4B72-A2A9-2F46EB635DD3}">
                <a16:creationId xmlns:a16="http://schemas.microsoft.com/office/drawing/2010/main" id="{CBE606B9-C7E4-4212-97A9-440EE448B360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1C28039D-68A2-4D7A-BB75-C8568406C136}">
                <a16:creationId xmlns:a16="http://schemas.microsoft.com/office/drawing/2010/main" id="{41A42A38-5C3A-4B6D-A45B-374C71CC347F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D8FE91FF-64E9-44DE-930E-13FCA4DF3AE7}">
                <a16:creationId xmlns:a16="http://schemas.microsoft.com/office/drawing/2010/main" id="{FB0A826D-2E32-4391-9AC4-B5532E390B5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56293440-E871-46C6-821D-EC292105CC0F}">
                <a16:creationId xmlns:a16="http://schemas.microsoft.com/office/drawing/2010/main" id="{D4E03453-AF5E-415A-9D12-C7414148DDB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F703B1F8-4C78-4C60-80C7-A07315F557B4}">
                <a16:creationId xmlns:a16="http://schemas.microsoft.com/office/drawing/2010/main" id="{99323B65-855A-46E5-B389-1E87D850267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7E5600B4-6372-4947-BFC3-DC2DD89BC42D}">
        <p14:creationId xmlns:p14="http://schemas.microsoft.com/office/powerpoint/2010/main" val="1734962043772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0677A1C-F2CA-412F-AEF9-D1CCAC72A698}">
                <a16:creationId xmlns:a16="http://schemas.microsoft.com/office/drawing/2010/main" id="{F4623B41-1F64-4B36-9E79-C3282BF534F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76846BF8-5D28-4F88-868D-F96A847D127E}">
                <a16:creationId xmlns:a16="http://schemas.microsoft.com/office/drawing/2010/main" id="{FCE379B2-C4C8-4B07-BEA8-E7A3039FCD2F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6ADC22CD-8037-4EB7-B7AF-9F298F83F295}">
                <a16:creationId xmlns:a16="http://schemas.microsoft.com/office/drawing/2010/main" id="{A48CD7FF-69AB-4CC4-B433-9888C635D21E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C3F884AB-8AD4-4785-9E8C-4D5768C8A529}">
                <a16:creationId xmlns:a16="http://schemas.microsoft.com/office/drawing/2010/main" id="{AC256B9B-CE45-401C-8762-37527B6F4F11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8EB4B79D-5CAE-4809-A556-1F786C9A1A2B}">
                <a16:creationId xmlns:a16="http://schemas.microsoft.com/office/drawing/2010/main" id="{4C4D784F-4A63-4540-AA63-B8703F5E0460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308DA8DF-325A-4430-9898-788728A0EB83}">
                <a16:creationId xmlns:a16="http://schemas.microsoft.com/office/drawing/2010/main" id="{F71E11B2-F0BF-46FA-B3C5-452C63354E7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6104F389-6974-47A2-A087-0E7C6D72ACDB}">
                <a16:creationId xmlns:a16="http://schemas.microsoft.com/office/drawing/2010/main" id="{87BD0EAF-F057-4DE4-AD3A-9E5704433CB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06F1F6D3-1E09-41D5-BAF6-37C8E493BE0D}">
                <a16:creationId xmlns:a16="http://schemas.microsoft.com/office/drawing/2010/main" id="{768F6568-1242-4016-9910-AB5A2DAEADF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9B0B9E4A-6F0E-48B7-B7BD-2425CF1257FD}">
        <p14:creationId xmlns:p14="http://schemas.microsoft.com/office/powerpoint/2010/main" val="1734962043773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DE115478-5DF3-40CF-B658-A214FCA51549}">
                <a16:creationId xmlns:a16="http://schemas.microsoft.com/office/drawing/2010/main" id="{0E2690F3-2CDF-43C3-9881-2EA72AB6BDBB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1798A1C8-0CB6-4FCD-A98E-BD6957F6847C}">
                <a16:creationId xmlns:a16="http://schemas.microsoft.com/office/drawing/2010/main" id="{891E504D-FF47-4C25-94F4-9157AB002612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8084BBF4-116C-4946-A0F4-7C0E5E98D7CC}">
                <a16:creationId xmlns:a16="http://schemas.microsoft.com/office/drawing/2010/main" id="{DE08FBA2-7587-45AC-8340-2DFBEEE081DD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7207A37D-D897-48D1-BDF4-1DF1B19F2606}">
                <a16:creationId xmlns:a16="http://schemas.microsoft.com/office/drawing/2010/main" id="{08CBD173-A8DE-4528-90C5-18DD006CC574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A88361C9-0CD6-453D-8F9B-040D26AE2FFE}">
                <a16:creationId xmlns:a16="http://schemas.microsoft.com/office/drawing/2010/main" id="{3E935807-F245-40D7-851D-AB385021EDD6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CA1C350A-A96A-4536-82B6-0FB7DE77DB23}">
                <a16:creationId xmlns:a16="http://schemas.microsoft.com/office/drawing/2010/main" id="{8EC6039E-2783-4647-BC0C-B0495B63390E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007E3BCD-7675-468B-8CA4-895ED55DAB4F}">
                <a16:creationId xmlns:a16="http://schemas.microsoft.com/office/drawing/2010/main" id="{C489B013-F359-4BE1-9678-2225D5252EC9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8527BDF0-9A9C-4DA0-9220-7FC6DF26C5E8}">
                <a16:creationId xmlns:a16="http://schemas.microsoft.com/office/drawing/2010/main" id="{D6ABE5DE-30CA-40AA-A298-A48336FFBB76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0CD3D3B6-B4B6-4A87-9334-C86756CBB6EA}">
                <a16:creationId xmlns:a16="http://schemas.microsoft.com/office/drawing/2010/main" id="{AC40128F-719B-4FC9-96E0-6CC796AA853F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3DB2F832-C923-40F3-BEBD-69030DF48E48}">
                <a16:creationId xmlns:a16="http://schemas.microsoft.com/office/drawing/2010/main" id="{A1140D3F-C3BB-4F9A-B6EC-474BA46D30A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18D4D119-CE20-410E-BFE2-6F611FFAD31C}">
                <a16:creationId xmlns:a16="http://schemas.microsoft.com/office/drawing/2010/main" id="{8301A51D-1D1C-4118-945A-E329097AFEF9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C275E377-D5E5-4EA3-91D8-F7F38CD68DCD}">
                <a16:creationId xmlns:a16="http://schemas.microsoft.com/office/drawing/2010/main" id="{324A28AE-447B-4804-855A-A29234B2DDD6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AC4F4B37-FCF9-4D48-B2A7-4E2E427339BD}">
                <a16:creationId xmlns:a16="http://schemas.microsoft.com/office/drawing/2010/main" id="{83D933B2-2995-4B70-840C-801E1C9994C4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6EA80391-66C4-45FA-925E-850ADD45C1B1}">
                <a16:creationId xmlns:a16="http://schemas.microsoft.com/office/drawing/2010/main" id="{C4655CA8-F0C0-4BB2-93A6-AD8040AB6D62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8.pn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2" Target="https://www.manageengine.com/it-operations-management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https://www.site24x7.com/" TargetMode="External" Type="http://schemas.openxmlformats.org/officeDocument/2006/relationships/hyperlink"/><Relationship Id="rId3" Target="https://www.site24x7.com/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https://www.manageengine.com/products/applications_manag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https://www.manageengine.com/network-monitoring/" TargetMode="External" Type="http://schemas.openxmlformats.org/officeDocument/2006/relationships/hyperlink"/><Relationship Id="rId3" Target="https://www.manageengine.com/network-monitoring-msp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https://www.manageengine.com/products/netflow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https://www.manageengine.com/network-configuration-manager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2" Target="https://www.manageengine.com/products/firewall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2" Target="https://www.manageengine.com/products/oputils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2" Target="https://www.manageengine.com/alarmsone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2" Target="https://www.site24x7.com/statusiq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2" Target="https://www.manageengine.com/clouddns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2" Target="https://www.manageengine.com/dns-dhcp-ipam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19.xml.rels><?xml version="1.0" encoding="UTF-8" standalone="no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20.xml.rels><?xml version="1.0" encoding="UTF-8" standalone="no"?><Relationships xmlns="http://schemas.openxmlformats.org/package/2006/relationships"><Relationship Id="rId2" Target="https://www.manageengine.com/cloudspend/" TargetMode="External" Type="http://schemas.openxmlformats.org/officeDocument/2006/relationships/hyperlink"/><Relationship Id="rId1" Target="../slideLayouts/slideLayout2.xml" Type="http://schemas.openxmlformats.org/officeDocument/2006/relationships/slideLayout"/></Relationships>
</file>

<file path=ppt/slides/_rels/slide21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24A37FD8-E5EA-4E12-B5B7-01DBCC2A0139}">
                <a16:creationId xmlns:a16="http://schemas.microsoft.com/office/drawing/2010/main" id="{1E2DD8E3-8F80-4CFB-9D02-B5D31B21A451}"/>
              </a:ext>
            </a:extLst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flipH="false" flipV="false" rot="0">
            <a:off x="0" y="0"/>
            <a:ext cx="9144000" cy="5143500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73962EDA-468C-4B59-A8DF-0DD1E110BCBF}">
                <a16:creationId xmlns:a16="http://schemas.microsoft.com/office/drawing/2010/main" id="{83D9ACC8-E813-4DE1-AFB0-B966AB58FC1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37768" y="2397499"/>
            <a:ext cx="7792354" cy="776706"/>
          </a:xfrm>
        </p:spPr>
        <p:txBody>
          <a:bodyPr rtlCol="0"/>
          <a:lstStyle/>
          <a:p>
            <a:pPr algn="ctr"/>
            <a:r>
              <a:rPr b="1" dirty="0" lang="en-US" sz="2800">
                <a:latin typeface="Zoho Puvi-heavy"/>
              </a:rPr>
              <a:t>P</a:t>
            </a:r>
            <a:r>
              <a:rPr b="1" dirty="0" lang="en-US" sz="2800">
                <a:latin typeface="Zoho Puvi-heavy"/>
              </a:rPr>
              <a:t>roduct Overview</a:t>
            </a:r>
            <a:br>
              <a:rPr b="1" dirty="0" lang="en-US" sz="2800">
                <a:latin typeface="Zoho Puvi-heavy"/>
              </a:rPr>
            </a:br>
            <a:r>
              <a:rPr b="1" dirty="0" lang="en-US" sz="2800">
                <a:latin typeface="Zoho Puvi-heavy"/>
              </a:rPr>
              <a:t>IT operations  management and observability</a:t>
            </a:r>
            <a:endParaRPr b="1" dirty="0" lang="en-US" sz="2800">
              <a:latin typeface="Zoho Puvi-heavy"/>
            </a:endParaRPr>
          </a:p>
        </p:txBody>
      </p:sp>
      <p:pic>
        <p:nvPicPr>
          <p:cNvPr id="4" name="">
            <a:extLst>
              <a:ext uri="{B558BE22-4FB9-431B-958D-56445B1E3AAA}">
                <a16:creationId xmlns:a16="http://schemas.microsoft.com/office/drawing/2010/main" id="{79F25F7D-5A05-4A67-BEFB-003F698EAC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flipH="false" flipV="false" rot="0">
            <a:off x="3549662" y="1477041"/>
            <a:ext cx="2044684" cy="360778"/>
          </a:xfrm>
          <a:prstGeom prst="rect">
            <a:avLst/>
          </a:prstGeom>
          <a:noFill/>
        </p:spPr>
      </p:pic>
    </p:spTree>
    <p:extLst>
      <p:ext uri="{7D992A7A-56D0-4488-A8E9-C86887C68A78}">
        <p14:creationId xmlns:p14="http://schemas.microsoft.com/office/powerpoint/2010/main" val="1734962043776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3BE2EC28-E82E-477D-B683-108F163AD7DA}">
                <a16:creationId xmlns:a16="http://schemas.microsoft.com/office/drawing/2010/main" id="{FDF31CE6-B364-4787-82C6-50E58F41D2D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66775" y="2229078"/>
            <a:ext cx="2925527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IT operations </a:t>
            </a:r>
          </a:p>
          <a:p>
            <a:pPr/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m</a:t>
            </a:r>
            <a:r>
              <a:rPr b="1" dirty="0" lang="en-US" sz="2400">
                <a:solidFill>
                  <a:srgbClr val="ffc000"/>
                </a:solidFill>
                <a:latin typeface="Zoho Puvi-heavy"/>
              </a:rPr>
              <a:t>anagement and observability </a:t>
            </a:r>
          </a:p>
          <a:p>
            <a:pPr/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Monitor 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and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 manage your </a:t>
            </a:r>
          </a:p>
          <a:p>
            <a:pPr/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network, servers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,</a:t>
            </a: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 and </a:t>
            </a:r>
          </a:p>
          <a:p>
            <a:pPr/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applications </a:t>
            </a:r>
            <a:endParaRPr b="0" dirty="0" lang="en-US" sz="1400" u="none">
              <a:solidFill>
                <a:schemeClr val="bg1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97895BA3-6539-4722-AB30-29BDE1F736E3}">
                <a16:creationId xmlns:a16="http://schemas.microsoft.com/office/drawing/2010/main" id="{6E639B4A-07A0-4018-AA49-CEF363D5A81C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162425" y="202996"/>
            <a:ext cx="4598860" cy="4512411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indent="0" lvl="1" marL="400050">
              <a:buNone/>
            </a:pP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Full-stack </a:t>
            </a: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observability</a:t>
            </a: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 &amp;</a:t>
            </a:r>
            <a:br>
              <a:rPr b="1" dirty="0" lang="en-US" sz="1400" u="none">
                <a:solidFill>
                  <a:srgbClr val="24b6ff"/>
                </a:solidFill>
                <a:latin typeface="Zoho Puvi"/>
              </a:rPr>
            </a:b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digital experience monitoring</a:t>
            </a:r>
          </a:p>
          <a:p>
            <a:pPr indent="0" lvl="1" marL="400050">
              <a:buNone/>
            </a:pP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Achieve end-to-end visibility, proactive issue resolution, and enhanced securit</a:t>
            </a: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y.</a:t>
            </a:r>
          </a:p>
          <a:p>
            <a:pPr indent="0" lvl="1" marL="400050">
              <a:buNone/>
            </a:pPr>
            <a:r>
              <a:rPr dirty="0" lang="en-US" sz="1400" u="none">
                <a:solidFill>
                  <a:schemeClr val="bg1"/>
                </a:solidFill>
                <a:latin typeface="Roboto"/>
              </a:rPr>
              <a:t/>
            </a:r>
          </a:p>
          <a:p>
            <a:pPr indent="0" lvl="1" marL="400050">
              <a:buNone/>
            </a:pP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Network and server performance monitoring</a:t>
            </a:r>
          </a:p>
          <a:p>
            <a:pPr indent="0" lvl="1" marL="400050"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Ensure network, server, and storage reliability with AI-powered insights</a:t>
            </a:r>
          </a:p>
          <a:p>
            <a:pPr indent="0" lvl="1" marL="400050">
              <a:buNone/>
            </a:pPr>
            <a:r>
              <a:rPr dirty="0" lang="en-US" sz="1400" u="none">
                <a:solidFill>
                  <a:schemeClr val="bg1"/>
                </a:solidFill>
                <a:latin typeface="Roboto"/>
              </a:rPr>
              <a:t/>
            </a:r>
          </a:p>
          <a:p>
            <a:pPr indent="0" lvl="1" marL="400050">
              <a:buNone/>
            </a:pPr>
            <a:r>
              <a:rPr b="1" dirty="0" lang="en-US" sz="1400" u="none">
                <a:solidFill>
                  <a:srgbClr val="24b6ff"/>
                </a:solidFill>
                <a:latin typeface="Zoho Puvi"/>
              </a:rPr>
              <a:t>IT incident management</a:t>
            </a:r>
          </a:p>
          <a:p>
            <a:pPr indent="0" lvl="1" marL="400050"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Efficiently manage and resolve IT incidents while ensuring transparency</a:t>
            </a:r>
          </a:p>
          <a:p>
            <a:pPr indent="0" lvl="1" marL="400050"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/>
            </a:r>
          </a:p>
          <a:p>
            <a:pPr indent="0" lvl="1" marL="400050">
              <a:buNone/>
            </a:pPr>
            <a:r>
              <a:rPr b="1" baseline="0" cap="none" dirty="0" i="0" lang="en-US" strike="noStrike" sz="1400" u="none">
                <a:solidFill>
                  <a:srgbClr val="24b6ff"/>
                </a:solidFill>
                <a:latin typeface="Zoho Puvi"/>
              </a:rPr>
              <a:t>DNS</a:t>
            </a:r>
            <a:r>
              <a:rPr b="1" baseline="0" cap="none" dirty="0" i="0" lang="en-US" strike="noStrike" sz="1400" u="none">
                <a:solidFill>
                  <a:srgbClr val="24b6ff"/>
                </a:solidFill>
                <a:latin typeface="Zoho Puvi"/>
              </a:rPr>
              <a:t> and </a:t>
            </a:r>
            <a:r>
              <a:rPr b="1" baseline="0" cap="none" dirty="0" err="1" i="0" lang="en-US" strike="noStrike" sz="1400" u="none">
                <a:solidFill>
                  <a:srgbClr val="24b6ff"/>
                </a:solidFill>
                <a:latin typeface="Zoho Puvi"/>
              </a:rPr>
              <a:t>DHCP</a:t>
            </a:r>
            <a:r>
              <a:rPr b="1" baseline="0" cap="none" dirty="0" i="0" lang="en-US" strike="noStrike" sz="1400" u="none">
                <a:solidFill>
                  <a:srgbClr val="24b6ff"/>
                </a:solidFill>
                <a:latin typeface="Zoho Puvi"/>
              </a:rPr>
              <a:t> management</a:t>
            </a:r>
          </a:p>
          <a:p>
            <a:pPr indent="0" lvl="1" marL="400050">
              <a:buNone/>
            </a:pPr>
            <a:r>
              <a:rPr b="0" dirty="0" lang="en-US" sz="1400" u="none">
                <a:solidFill>
                  <a:schemeClr val="bg1"/>
                </a:solidFill>
                <a:latin typeface="Zoho Puvi"/>
              </a:rPr>
              <a:t>Optimize IP address configuration and domain management</a:t>
            </a:r>
          </a:p>
          <a:p>
            <a:pPr indent="0" lvl="1" marL="400050">
              <a:buNone/>
            </a:pPr>
            <a:r>
              <a:rPr b="0" cap="none" dirty="0" i="0" lang="en-US" strike="noStrike" sz="1400" u="none">
                <a:solidFill>
                  <a:schemeClr val="bg1"/>
                </a:solidFill>
                <a:latin typeface="Zoho Puvi"/>
              </a:rPr>
              <a:t/>
            </a:r>
          </a:p>
          <a:p>
            <a:pPr indent="0" lvl="1" marL="400050">
              <a:buNone/>
            </a:pPr>
            <a:r>
              <a:rPr b="1" baseline="0" cap="none" dirty="0" i="0" lang="en-US" strike="noStrike" sz="1400" u="none">
                <a:solidFill>
                  <a:srgbClr val="24b6ff"/>
                </a:solidFill>
                <a:latin typeface="Zoho Puvi"/>
              </a:rPr>
              <a:t>Cloud cost </a:t>
            </a:r>
          </a:p>
          <a:p>
            <a:pPr indent="0" lvl="1" marL="400050">
              <a:buNone/>
            </a:pPr>
            <a:r>
              <a:rPr b="0" dirty="0" i="0" lang="en-US" sz="1400" u="none">
                <a:solidFill>
                  <a:schemeClr val="bg1"/>
                </a:solidFill>
                <a:latin typeface="Zoho Puvi"/>
              </a:rPr>
              <a:t>Right-size and take control of your cloud costs</a:t>
            </a:r>
            <a:endParaRPr b="0" dirty="0" i="0" lang="en-US" sz="1400" u="none">
              <a:solidFill>
                <a:schemeClr val="bg1"/>
              </a:solidFill>
              <a:latin typeface="Zoho Puvi"/>
            </a:endParaRPr>
          </a:p>
        </p:txBody>
      </p:sp>
    </p:spTree>
    <p:extLst>
      <p:ext uri="{9FFEFB2B-F8F8-4D76-AD38-2DDAB462ADF2}">
        <p14:creationId xmlns:p14="http://schemas.microsoft.com/office/powerpoint/2010/main" val="1734962043777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06738B1-7939-4D3E-87A9-992BCFBE4FAD}">
                <a16:creationId xmlns:a16="http://schemas.microsoft.com/office/drawing/2010/main" id="{C9589300-3739-4626-A213-C8BF186C9D0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24102" y="1038291"/>
            <a:ext cx="2445181" cy="2000183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Full-stack</a:t>
            </a:r>
          </a:p>
          <a:p>
            <a:pPr/>
            <a:r>
              <a:rPr b="1" dirty="0" err="1" lang="en-US" sz="2400" u="none">
                <a:solidFill>
                  <a:schemeClr val="tx1"/>
                </a:solidFill>
                <a:latin typeface="Zoho Puvi-heavy"/>
              </a:rPr>
              <a:t>observability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and digital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experience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monitoring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398EC4A4-5A97-4637-B985-D0425A88D1F1}">
                <a16:creationId xmlns:a16="http://schemas.microsoft.com/office/drawing/2010/main" id="{9D1D2D65-EF26-46FD-8201-9612F5F0A883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19905" y="781050"/>
            <a:ext cx="4237158" cy="3656047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OpManager</a:t>
            </a:r>
            <a:r>
              <a:rPr b="1" dirty="0" i="0" lang="en-US" sz="1400">
                <a:latin typeface="Zoho Puvi"/>
              </a:rPr>
              <a:t> Plus: </a:t>
            </a:r>
            <a:r>
              <a:rPr b="0" dirty="0" i="0" lang="en-US" sz="1400">
                <a:latin typeface="Zoho Puvi"/>
              </a:rPr>
              <a:t>Full-stack observability with AIOps and </a:t>
            </a:r>
            <a:r>
              <a:rPr b="0" dirty="0" i="0" lang="en-US" sz="1400">
                <a:latin typeface="Zoho Puvi"/>
              </a:rPr>
              <a:t>digital experience monitoring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Site24x7: </a:t>
            </a:r>
            <a:r>
              <a:rPr b="0" dirty="0" i="0" lang="en-US" sz="1400">
                <a:latin typeface="Zoho Puvi"/>
              </a:rPr>
              <a:t>AI-powered, all-in-one </a:t>
            </a:r>
            <a:r>
              <a:rPr b="0" dirty="0" err="1" i="0" lang="en-US" sz="1400">
                <a:latin typeface="Zoho Puvi"/>
              </a:rPr>
              <a:t>SaaS</a:t>
            </a:r>
            <a:r>
              <a:rPr b="0" dirty="0" i="0" lang="en-US" sz="1400">
                <a:latin typeface="Zoho Puvi"/>
              </a:rPr>
              <a:t> platform for </a:t>
            </a:r>
            <a:r>
              <a:rPr b="0" dirty="0" i="0" lang="en-US" sz="1400">
                <a:latin typeface="Zoho Puvi"/>
              </a:rPr>
              <a:t>observability</a:t>
            </a:r>
            <a:r>
              <a:rPr b="0" dirty="0" i="0" lang="en-US" sz="1400">
                <a:latin typeface="Zoho Puvi"/>
              </a:rPr>
              <a:t> and digital experience monitoring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Applications Manager:</a:t>
            </a:r>
            <a:r>
              <a:rPr b="0" dirty="0" i="0" lang="en-US" sz="1400">
                <a:latin typeface="Zoho Puvi"/>
              </a:rPr>
              <a:t> </a:t>
            </a:r>
            <a:r>
              <a:rPr b="0" dirty="0" i="0" lang="en-US" sz="1400">
                <a:latin typeface="Zoho Puvi"/>
              </a:rPr>
              <a:t>Digital experience, application performance, and infrastructure monitoring</a:t>
            </a:r>
            <a:endParaRPr b="0" dirty="0" i="0" lang="en-US" sz="1400">
              <a:latin typeface="Zoho Puvi"/>
            </a:endParaRPr>
          </a:p>
        </p:txBody>
      </p:sp>
    </p:spTree>
    <p:extLst>
      <p:ext uri="{6112EF23-0FB7-4E2F-9971-640B7D44F340}">
        <p14:creationId xmlns:p14="http://schemas.microsoft.com/office/powerpoint/2010/main" val="1734962043778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BFAA32D-E897-4A86-9D75-22D587BCB06C}">
                <a16:creationId xmlns:a16="http://schemas.microsoft.com/office/drawing/2010/main" id="{F2267B3C-2FCA-4030-9677-FA7577F2C1E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66924"/>
            <a:ext cx="6421202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OpManager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Plus</a:t>
            </a:r>
          </a:p>
          <a:p>
            <a:pPr/>
            <a:r>
              <a:rPr b="1" dirty="0" i="0" lang="en-US" sz="1400">
                <a:latin typeface="Zoho Puvi"/>
              </a:rPr>
              <a:t>Full-stack observability with AIOps and </a:t>
            </a:r>
            <a:r>
              <a:rPr b="1" dirty="0" i="0" lang="en-US" sz="1400">
                <a:latin typeface="Zoho Puvi"/>
              </a:rPr>
              <a:t>digital experience monitoring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128F69E1-62FA-4CF2-9411-28A3B800FE99}">
                <a16:creationId xmlns:a16="http://schemas.microsoft.com/office/drawing/2010/main" id="{CE3C1B7B-DFB6-4100-A0D1-CE29A9CF01A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IT </a:t>
            </a:r>
            <a:r>
              <a:rPr b="0" dirty="0" lang="en-US" sz="1400">
                <a:latin typeface="Zoho Puvi"/>
              </a:rPr>
              <a:t>o</a:t>
            </a:r>
            <a:r>
              <a:rPr b="0" dirty="0" lang="en-US" sz="1400">
                <a:latin typeface="Zoho Puvi"/>
              </a:rPr>
              <a:t>perations </a:t>
            </a:r>
            <a:r>
              <a:rPr b="0" dirty="0" lang="en-US" sz="1400">
                <a:latin typeface="Zoho Puvi"/>
              </a:rPr>
              <a:t>m</a:t>
            </a:r>
            <a:r>
              <a:rPr b="0" dirty="0" lang="en-US" sz="1400">
                <a:latin typeface="Zoho Puvi"/>
              </a:rPr>
              <a:t>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IT</a:t>
            </a:r>
            <a:r>
              <a:rPr b="0" dirty="0" lang="en-US" sz="1400">
                <a:latin typeface="Zoho Puvi"/>
              </a:rPr>
              <a:t> </a:t>
            </a:r>
            <a:r>
              <a:rPr b="0" dirty="0" lang="en-US" sz="1400">
                <a:latin typeface="Zoho Puvi"/>
              </a:rPr>
              <a:t>i</a:t>
            </a:r>
            <a:r>
              <a:rPr b="0" dirty="0" lang="en-US" sz="1400">
                <a:latin typeface="Zoho Puvi"/>
              </a:rPr>
              <a:t>nfrastructure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Unified IT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Unified network management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Data center infrastructure management</a:t>
            </a:r>
            <a:endParaRPr b="0" dirty="0" lang="en-US" sz="1400">
              <a:latin typeface="Zoho Puvi"/>
            </a:endParaRPr>
          </a:p>
        </p:txBody>
      </p:sp>
    </p:spTree>
    <p:extLst>
      <p:ext uri="{F632FD0D-0762-47A9-8CE7-305761E86280}">
        <p14:creationId xmlns:p14="http://schemas.microsoft.com/office/powerpoint/2010/main" val="1734962043779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0CEC3CE-BD83-4EE8-B1F7-D55E3E728AAF}">
                <a16:creationId xmlns:a16="http://schemas.microsoft.com/office/drawing/2010/main" id="{92BD02D9-9B0B-4525-8660-7153B3EF794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3"/>
            <a:ext cx="7875327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Site24x7</a:t>
            </a:r>
          </a:p>
          <a:p>
            <a:pPr/>
            <a:r>
              <a:rPr b="1" dirty="0" i="0" lang="en-US" sz="1400">
                <a:latin typeface="Zoho Puvi"/>
              </a:rPr>
              <a:t>AI-powered, all-in-one </a:t>
            </a:r>
            <a:r>
              <a:rPr b="1" dirty="0" err="1" i="0" lang="en-US" sz="1400">
                <a:latin typeface="Zoho Puvi"/>
              </a:rPr>
              <a:t>SaaS</a:t>
            </a:r>
            <a:r>
              <a:rPr b="1" dirty="0" i="0" lang="en-US" sz="1400">
                <a:latin typeface="Zoho Puvi"/>
              </a:rPr>
              <a:t> platform for </a:t>
            </a:r>
            <a:r>
              <a:rPr b="1" dirty="0" i="0" lang="en-US" sz="1400">
                <a:latin typeface="Zoho Puvi"/>
              </a:rPr>
              <a:t>observability</a:t>
            </a:r>
            <a:r>
              <a:rPr b="1" dirty="0" i="0" lang="en-US" sz="1400">
                <a:latin typeface="Zoho Puvi"/>
              </a:rPr>
              <a:t> and digital experience monitoring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| 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3"/>
              </a:rPr>
              <a:t>MSP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744C1260-F078-40C1-94FA-5610F2D0445B}">
                <a16:creationId xmlns:a16="http://schemas.microsoft.com/office/drawing/2010/main" id="{9F7693D7-34A7-4036-9726-F14F0939736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6192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Website performance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Server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Synthetic web transaction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Application performance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Network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Real user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Remote monitoring and management (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RMM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)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 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for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MSPs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and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CSPs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Public and private cloud monitoring and 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log management 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FF16C5AC-D9C0-49A6-8AB6-5E93ABF79AC4}">
        <p14:creationId xmlns:p14="http://schemas.microsoft.com/office/powerpoint/2010/main" val="1734962043780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5BA1FB7-2941-499E-9A1E-5DF4F092E63A}">
                <a16:creationId xmlns:a16="http://schemas.microsoft.com/office/drawing/2010/main" id="{CC5E09EA-E8A4-489B-BFCA-3D85BEBFC0B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Applications Manager</a:t>
            </a:r>
          </a:p>
          <a:p>
            <a:pPr/>
            <a:r>
              <a:rPr b="1" dirty="0" lang="en-US" sz="1400">
                <a:latin typeface="Zoho Puvi"/>
              </a:rPr>
              <a:t>Digital experience, application performance, and infrastructure monitoring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752DF25D-6901-4E82-993F-AC8C148F7E66}">
                <a16:creationId xmlns:a16="http://schemas.microsoft.com/office/drawing/2010/main" id="{F60A8DB3-2755-4A3E-8FAD-B1BE9B7E8AC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Application performance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Server and </a:t>
            </a:r>
            <a:r>
              <a:rPr b="0" dirty="0" err="1" lang="en-US" sz="1400">
                <a:latin typeface="Zoho Puvi"/>
              </a:rPr>
              <a:t>VM</a:t>
            </a:r>
            <a:r>
              <a:rPr b="0" dirty="0" lang="en-US" sz="1400">
                <a:latin typeface="Zoho Puvi"/>
              </a:rPr>
              <a:t> </a:t>
            </a:r>
            <a:r>
              <a:rPr b="0" dirty="0" lang="en-US" sz="1400">
                <a:latin typeface="Zoho Puvi"/>
              </a:rPr>
              <a:t>performance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End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user experience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Synthetic transaction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Cloud, container</a:t>
            </a:r>
            <a:r>
              <a:rPr b="0" dirty="0" lang="en-US" sz="1400">
                <a:latin typeface="Zoho Puvi"/>
              </a:rPr>
              <a:t>,</a:t>
            </a:r>
            <a:r>
              <a:rPr b="0" dirty="0" lang="en-US" sz="1400">
                <a:latin typeface="Zoho Puvi"/>
              </a:rPr>
              <a:t> and infrastructure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Database monitoring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Automated application dependency mapping</a:t>
            </a:r>
            <a:endParaRPr b="0" dirty="0" lang="en-US" sz="1400">
              <a:latin typeface="Zoho Puvi"/>
            </a:endParaRPr>
          </a:p>
        </p:txBody>
      </p:sp>
    </p:spTree>
    <p:extLst>
      <p:ext uri="{5D518F73-01C9-4729-A00F-6F1CCA39B269}">
        <p14:creationId xmlns:p14="http://schemas.microsoft.com/office/powerpoint/2010/main" val="1734962043781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8932472-C780-4CE3-A642-94E4993357F3}">
                <a16:creationId xmlns:a16="http://schemas.microsoft.com/office/drawing/2010/main" id="{E3DBF9E7-9685-4554-9B6B-E602D91AE64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24102" y="2181225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Network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and </a:t>
            </a: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server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performance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monitoring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F176FAF8-F265-4139-87FE-1E94DB6D2AC6}">
                <a16:creationId xmlns:a16="http://schemas.microsoft.com/office/drawing/2010/main" id="{782E06FF-5CF1-47CC-865C-EA95FE8AC60E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19905" y="781050"/>
            <a:ext cx="4237158" cy="3656047"/>
          </a:xfrm>
          <a:prstGeom prst="rect">
            <a:avLst/>
          </a:prstGeom>
        </p:spPr>
        <p:txBody>
          <a:bodyPr rtlCol="0">
            <a:normAutofit fontScale="100000" lnSpcReduction="0"/>
          </a:bodyPr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OpManager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Network, server, and storage performance monitoring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NetFlow</a:t>
            </a:r>
            <a:r>
              <a:rPr b="1" dirty="0" i="0" lang="en-US" sz="1400">
                <a:latin typeface="Zoho Puvi"/>
              </a:rPr>
              <a:t> Analyzer: </a:t>
            </a:r>
            <a:r>
              <a:rPr b="0" dirty="0" i="0" lang="en-US" sz="1400">
                <a:latin typeface="Zoho Puvi"/>
              </a:rPr>
              <a:t>Bandwidth monitoring and traffic analysis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Network Configuration Manager: </a:t>
            </a:r>
            <a:r>
              <a:rPr b="0" dirty="0" i="0" lang="en-US" sz="1400">
                <a:latin typeface="Zoho Puvi"/>
              </a:rPr>
              <a:t>Network change and configuration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Firewall Analyzer: </a:t>
            </a:r>
            <a:r>
              <a:rPr b="0" dirty="0" i="0" lang="en-US" sz="1400">
                <a:latin typeface="Zoho Puvi"/>
              </a:rPr>
              <a:t>Firewall rule, configuration, and log management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OpUtils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IP address and switch port management</a:t>
            </a:r>
            <a:endParaRPr b="0" dirty="0" i="0" lang="en-US" sz="1400">
              <a:latin typeface="Zoho Puvi"/>
            </a:endParaRPr>
          </a:p>
        </p:txBody>
      </p:sp>
    </p:spTree>
    <p:extLst>
      <p:ext uri="{AA549670-4805-4810-AF75-4C4DA962DBDE}">
        <p14:creationId xmlns:p14="http://schemas.microsoft.com/office/powerpoint/2010/main" val="1734962043782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F69238B-7D96-432A-938D-1518C4C764F5}">
                <a16:creationId xmlns:a16="http://schemas.microsoft.com/office/drawing/2010/main" id="{8173BCFD-4653-4057-A2CE-6CAA63E4646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OpManager</a:t>
            </a:r>
          </a:p>
          <a:p>
            <a:pPr/>
            <a:r>
              <a:rPr b="1" dirty="0" lang="en-US" sz="1400">
                <a:latin typeface="Zoho Puvi"/>
              </a:rPr>
              <a:t>Network, server, and storage performance monitoring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 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|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 </a:t>
            </a:r>
            <a:r>
              <a:rPr b="1" dirty="0" err="1" lang="en-US" sz="1400">
                <a:solidFill>
                  <a:schemeClr val="accent6"/>
                </a:solidFill>
                <a:latin typeface="Zoho Puvi"/>
                <a:hlinkClick r:id="rId3"/>
              </a:rPr>
              <a:t>MSP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38F51FBE-FC39-4598-B61F-75542A790037}">
                <a16:creationId xmlns:a16="http://schemas.microsoft.com/office/drawing/2010/main" id="{E3B8F75B-3539-4149-BE4A-FC74F1DD0A2E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Real-time network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Physical and virtual s</a:t>
            </a:r>
            <a:r>
              <a:rPr b="0" dirty="0" lang="en-US" sz="1400">
                <a:latin typeface="Zoho Puvi"/>
              </a:rPr>
              <a:t>erver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Wireless LAN controller (</a:t>
            </a:r>
            <a:r>
              <a:rPr b="0" dirty="0" err="1" lang="en-US" sz="1400">
                <a:latin typeface="Zoho Puvi"/>
              </a:rPr>
              <a:t>WLC</a:t>
            </a:r>
            <a:r>
              <a:rPr b="0" dirty="0" lang="en-US" sz="1400">
                <a:latin typeface="Zoho Puvi"/>
              </a:rPr>
              <a:t>)</a:t>
            </a:r>
            <a:r>
              <a:rPr b="0" dirty="0" lang="en-US" sz="1400">
                <a:latin typeface="Zoho Puvi"/>
              </a:rPr>
              <a:t>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Storage m</a:t>
            </a:r>
            <a:r>
              <a:rPr b="0" dirty="0" lang="en-US" sz="1400">
                <a:latin typeface="Zoho Puvi"/>
              </a:rPr>
              <a:t>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WAN</a:t>
            </a:r>
            <a:r>
              <a:rPr b="0" dirty="0" lang="en-US" sz="1400">
                <a:latin typeface="Zoho Puvi"/>
              </a:rPr>
              <a:t> and </a:t>
            </a:r>
            <a:r>
              <a:rPr b="0" dirty="0" lang="en-US" sz="1400">
                <a:latin typeface="Zoho Puvi"/>
              </a:rPr>
              <a:t>VoIP</a:t>
            </a:r>
            <a:r>
              <a:rPr b="0" dirty="0" lang="en-US" sz="1400">
                <a:latin typeface="Zoho Puvi"/>
              </a:rPr>
              <a:t>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Fault m</a:t>
            </a:r>
            <a:r>
              <a:rPr b="0" dirty="0" lang="en-US" sz="1400">
                <a:latin typeface="Zoho Puvi"/>
              </a:rPr>
              <a:t>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Advanced r</a:t>
            </a:r>
            <a:r>
              <a:rPr b="0" dirty="0" lang="en-US" sz="1400">
                <a:latin typeface="Zoho Puvi"/>
              </a:rPr>
              <a:t>eporting</a:t>
            </a:r>
            <a:endParaRPr b="0" dirty="0" lang="en-US" sz="1400">
              <a:latin typeface="Zoho Puvi"/>
            </a:endParaRPr>
          </a:p>
        </p:txBody>
      </p:sp>
    </p:spTree>
    <p:extLst>
      <p:ext uri="{5E49233B-A243-47B2-A2E2-5685B391D12A}">
        <p14:creationId xmlns:p14="http://schemas.microsoft.com/office/powerpoint/2010/main" val="1734962043783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FBFBCD6-C059-4088-8BD9-346D20A7192B}">
                <a16:creationId xmlns:a16="http://schemas.microsoft.com/office/drawing/2010/main" id="{CD1ACC40-0A4A-4B75-B921-647CDDB3E94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NetFlow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Analyzer</a:t>
            </a:r>
            <a:r>
              <a:rPr b="1" dirty="0" lang="en-US" sz="1400">
                <a:solidFill>
                  <a:srgbClr val="0070c0"/>
                </a:solidFill>
                <a:latin typeface="Zoho Puvi-heavy"/>
              </a:rPr>
              <a:t> </a:t>
            </a:r>
          </a:p>
          <a:p>
            <a:pPr/>
            <a:r>
              <a:rPr b="1" dirty="0" lang="en-US" sz="1400">
                <a:latin typeface="Zoho Puvi"/>
              </a:rPr>
              <a:t>Bandwidth monitoring and traffic analysis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A105EBAF-DC8F-4400-93D9-ABB2F5FB267B}">
                <a16:creationId xmlns:a16="http://schemas.microsoft.com/office/drawing/2010/main" id="{548DE507-0942-4D38-8415-EC08A59BB240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430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Flow</a:t>
            </a:r>
            <a:r>
              <a:rPr b="0" dirty="0" lang="en-US" sz="1400">
                <a:latin typeface="Zoho Puvi"/>
              </a:rPr>
              <a:t>-</a:t>
            </a:r>
            <a:r>
              <a:rPr b="0" dirty="0" lang="en-US" sz="1400">
                <a:latin typeface="Zoho Puvi"/>
              </a:rPr>
              <a:t>based bandwidth monitoring, traffic analysis, and reporting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Application traffic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Network traffic shaping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bandwidth reports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Advanced forensics and network security 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Capacity planning and billing</a:t>
            </a:r>
            <a:endParaRPr b="0" dirty="0" lang="en-US" sz="1400">
              <a:latin typeface="Zoho Puvi"/>
            </a:endParaRPr>
          </a:p>
        </p:txBody>
      </p:sp>
    </p:spTree>
    <p:extLst>
      <p:ext uri="{94B7DD07-EE71-4B28-AC84-DA9F33AB3A95}">
        <p14:creationId xmlns:p14="http://schemas.microsoft.com/office/powerpoint/2010/main" val="1734962043784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128236A-6A61-4FC4-A659-F33EE9A74338}">
                <a16:creationId xmlns:a16="http://schemas.microsoft.com/office/drawing/2010/main" id="{208323BC-1BD4-41CA-BEB1-2047064A2F7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Network Configuration Manager</a:t>
            </a:r>
          </a:p>
          <a:p>
            <a:pPr/>
            <a:r>
              <a:rPr b="1" dirty="0" lang="en-US" sz="1400">
                <a:latin typeface="Zoho Puvi"/>
              </a:rPr>
              <a:t>Network change and configuration management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53E1F854-7BCC-418D-951B-327C4F63B85A}">
                <a16:creationId xmlns:a16="http://schemas.microsoft.com/office/drawing/2010/main" id="{7A14DEBA-FE8B-48B8-BCDD-49231F6384D4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049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Network c</a:t>
            </a:r>
            <a:r>
              <a:rPr b="0" dirty="0" lang="en-US" sz="1400">
                <a:latin typeface="Zoho Puvi"/>
              </a:rPr>
              <a:t>onfiguration management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Network configuration c</a:t>
            </a:r>
            <a:r>
              <a:rPr b="0" dirty="0" lang="en-US" sz="1400">
                <a:latin typeface="Zoho Puvi"/>
              </a:rPr>
              <a:t>hange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Automated and scheduled configuration backups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Role-based access to c</a:t>
            </a:r>
            <a:r>
              <a:rPr b="0" dirty="0" lang="en-US" sz="1400">
                <a:latin typeface="Zoho Puvi"/>
              </a:rPr>
              <a:t>ontrol network configuration</a:t>
            </a:r>
            <a:r>
              <a:rPr b="0" dirty="0" lang="en-US" sz="1400">
                <a:latin typeface="Zoho Puvi"/>
              </a:rPr>
              <a:t> changes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Command execution with </a:t>
            </a:r>
            <a:r>
              <a:rPr b="0" dirty="0" err="1" lang="en-US" sz="1400">
                <a:latin typeface="Zoho Puvi"/>
              </a:rPr>
              <a:t>c</a:t>
            </a:r>
            <a:r>
              <a:rPr b="0" dirty="0" err="1" lang="en-US" sz="1400">
                <a:latin typeface="Zoho Puvi"/>
              </a:rPr>
              <a:t>onfiglets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Compliance auditing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Firmware vulnerability m</a:t>
            </a:r>
            <a:r>
              <a:rPr b="0" dirty="0" lang="en-US" sz="1400">
                <a:latin typeface="Zoho Puvi"/>
              </a:rPr>
              <a:t>anagement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Detailed reports for audit</a:t>
            </a:r>
            <a:r>
              <a:rPr b="0" dirty="0" lang="en-US" sz="1400">
                <a:latin typeface="Zoho Puvi"/>
              </a:rPr>
              <a:t>s</a:t>
            </a:r>
            <a:endParaRPr b="0" dirty="0" lang="en-US" sz="1400">
              <a:latin typeface="Zoho Puvi"/>
            </a:endParaRPr>
          </a:p>
        </p:txBody>
      </p:sp>
    </p:spTree>
    <p:extLst>
      <p:ext uri="{A7052BC8-C041-4392-AA8F-727288962865}">
        <p14:creationId xmlns:p14="http://schemas.microsoft.com/office/powerpoint/2010/main" val="1734962043786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A273C3F-D351-4C84-9424-7B9C54F5F0D1}">
                <a16:creationId xmlns:a16="http://schemas.microsoft.com/office/drawing/2010/main" id="{B2E36AE1-4637-437B-AB29-4F4B58E2386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Firewall Analyzer</a:t>
            </a:r>
          </a:p>
          <a:p>
            <a:pPr/>
            <a:r>
              <a:rPr b="1" dirty="0" lang="en-US" sz="1400">
                <a:latin typeface="Zoho Puvi"/>
              </a:rPr>
              <a:t>Firewall rule, configuration</a:t>
            </a:r>
            <a:r>
              <a:rPr b="1" dirty="0" lang="en-US" sz="1400">
                <a:latin typeface="Zoho Puvi"/>
              </a:rPr>
              <a:t>,</a:t>
            </a:r>
            <a:r>
              <a:rPr b="1" dirty="0" lang="en-US" sz="1400">
                <a:latin typeface="Zoho Puvi"/>
              </a:rPr>
              <a:t> </a:t>
            </a:r>
            <a:r>
              <a:rPr b="1" dirty="0" lang="en-US" sz="1400">
                <a:latin typeface="Zoho Puvi"/>
              </a:rPr>
              <a:t>and log management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7718B316-8019-4A1A-80CF-A56C82700FB5}">
                <a16:creationId xmlns:a16="http://schemas.microsoft.com/office/drawing/2010/main" id="{F06FA859-AA83-40E4-A907-813F4EF05623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52855" y="1581150"/>
            <a:ext cx="7620000" cy="3048000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Firewall policy analysis and administration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Firewall configuration monitoring and change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Firewall compliance reports and auditing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Firewall log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Network traffic and bandwidth monitoring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Security and </a:t>
            </a:r>
            <a:r>
              <a:rPr b="0" dirty="0" err="1" lang="en-US" sz="1400">
                <a:solidFill>
                  <a:schemeClr val="tx1"/>
                </a:solidFill>
                <a:latin typeface="Zoho Puvi"/>
              </a:rPr>
              <a:t>VPN</a:t>
            </a:r>
            <a:r>
              <a:rPr b="0" dirty="0" lang="en-US" sz="1400">
                <a:solidFill>
                  <a:schemeClr val="tx1"/>
                </a:solidFill>
                <a:latin typeface="Zoho Puvi"/>
              </a:rPr>
              <a:t> monitoring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User activity monitoring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solidFill>
                  <a:schemeClr val="tx1"/>
                </a:solidFill>
                <a:latin typeface="Zoho Puvi"/>
              </a:rPr>
              <a:t>Network forensic audits </a:t>
            </a:r>
            <a:endParaRPr b="0" dirty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FCAF3953-A4AD-47CE-B78C-6C3CD4E6B266}">
        <p14:creationId xmlns:p14="http://schemas.microsoft.com/office/powerpoint/2010/main" val="1734962043787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2823C8B0-BA13-437B-BF19-41E2F9A857F9}">
                <a16:creationId xmlns:a16="http://schemas.microsoft.com/office/drawing/2010/main" id="{BAAC79C9-231C-4F33-AE7E-B92A342A1D5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287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OpUtils</a:t>
            </a:r>
          </a:p>
          <a:p>
            <a:pPr/>
            <a:r>
              <a:rPr b="1" dirty="0" lang="en-US" sz="1400">
                <a:latin typeface="Zoho Puvi"/>
              </a:rPr>
              <a:t>IP address and switch port management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89222494-2FC4-49F5-A06B-6280EB8F8149}">
                <a16:creationId xmlns:a16="http://schemas.microsoft.com/office/drawing/2010/main" id="{E2436229-1950-4D43-BCF1-E64F0336A49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IP address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Switch port management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Rogue device detection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Wake on LAN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err="1" lang="en-US" sz="1400">
                <a:latin typeface="Zoho Puvi"/>
              </a:rPr>
              <a:t>SNMP</a:t>
            </a:r>
            <a:r>
              <a:rPr b="0" dirty="0" lang="en-US" sz="1400">
                <a:latin typeface="Zoho Puvi"/>
              </a:rPr>
              <a:t> tools and Cisco tools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Diagnostic </a:t>
            </a:r>
            <a:r>
              <a:rPr b="0" dirty="0" lang="en-US" sz="1400">
                <a:latin typeface="Zoho Puvi"/>
              </a:rPr>
              <a:t>t</a:t>
            </a:r>
            <a:r>
              <a:rPr b="0" dirty="0" lang="en-US" sz="1400">
                <a:latin typeface="Zoho Puvi"/>
              </a:rPr>
              <a:t>ools</a:t>
            </a:r>
            <a:endParaRPr b="0" dirty="0" lang="en-US" sz="1400">
              <a:latin typeface="Zoho Puvi"/>
            </a:endParaRPr>
          </a:p>
        </p:txBody>
      </p:sp>
    </p:spTree>
    <p:extLst>
      <p:ext uri="{863B5743-255C-4177-A4E2-4C3E9B1AA2B6}">
        <p14:creationId xmlns:p14="http://schemas.microsoft.com/office/powerpoint/2010/main" val="1734962043787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52208C2-6E73-45EE-9912-48FA8D06404B}">
                <a16:creationId xmlns:a16="http://schemas.microsoft.com/office/drawing/2010/main" id="{71658FB0-3867-444B-9B60-72A4C359412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57300" y="1904352"/>
            <a:ext cx="2471004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IT incident 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80FA1D18-15BE-48E8-B83B-928FD6A15403}">
                <a16:creationId xmlns:a16="http://schemas.microsoft.com/office/drawing/2010/main" id="{9D0D9616-8067-41D4-BD94-4DDFA1919DE6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39802" y="1637938"/>
            <a:ext cx="3061878" cy="1755409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AlarmsOne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Centralized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IT alert management</a:t>
            </a:r>
          </a:p>
          <a:p>
            <a:pPr>
              <a:buClr>
                <a:schemeClr val="tx1"/>
              </a:buClr>
            </a:pPr>
            <a:r>
              <a:rPr b="1" dirty="0" i="0" lang="en-US" sz="1400">
                <a:latin typeface="Zoho Puvi"/>
              </a:rPr>
              <a:t>Site24x7 </a:t>
            </a:r>
            <a:r>
              <a:rPr b="1" dirty="0" err="1" i="0" lang="en-US" sz="1400">
                <a:latin typeface="Zoho Puvi"/>
              </a:rPr>
              <a:t>StatusIQ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Status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pages for real-time status </a:t>
            </a:r>
            <a:br>
              <a:rPr b="0" dirty="0" i="0" lang="en-US" sz="1400">
                <a:latin typeface="Zoho Puvi"/>
              </a:rPr>
            </a:br>
            <a:r>
              <a:rPr b="0" dirty="0" i="0" lang="en-US" sz="1400">
                <a:latin typeface="Zoho Puvi"/>
              </a:rPr>
              <a:t>and incident communication</a:t>
            </a:r>
            <a:endParaRPr b="0" dirty="0" i="0" lang="en-US" sz="1400">
              <a:latin typeface="Zoho Puvi"/>
            </a:endParaRPr>
          </a:p>
        </p:txBody>
      </p:sp>
    </p:spTree>
    <p:extLst>
      <p:ext uri="{DA04BAE8-59FA-4654-9FBE-860601C26A6C}">
        <p14:creationId xmlns:p14="http://schemas.microsoft.com/office/powerpoint/2010/main" val="1734962043788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A95C404F-A4C3-46D8-80F3-E690694AB3A1}">
                <a16:creationId xmlns:a16="http://schemas.microsoft.com/office/drawing/2010/main" id="{5BF36DA5-0AC9-4AB4-8A3F-2727F84C2D9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AlarmsOne</a:t>
            </a:r>
          </a:p>
          <a:p>
            <a:pPr/>
            <a:r>
              <a:rPr b="1" dirty="0" lang="en-US" sz="1400">
                <a:latin typeface="Zoho Puvi"/>
              </a:rPr>
              <a:t>Centralized IT alert management 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 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6FD8B22C-042E-42F4-9540-8C0DA6FA3FC4}">
                <a16:creationId xmlns:a16="http://schemas.microsoft.com/office/drawing/2010/main" id="{9A644D96-21D7-44FC-A157-C66E877C040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676400"/>
            <a:ext cx="2952588" cy="1675914"/>
          </a:xfrm>
        </p:spPr>
        <p:txBody>
          <a:bodyPr rtlCol="0">
            <a:noAutofit/>
          </a:bodyPr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‌Alarm escalations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On-call scheduling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Auto-remediation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Alarm modification</a:t>
            </a:r>
          </a:p>
          <a:p>
            <a:pPr indent="0" marL="0">
              <a:buClr>
                <a:schemeClr val="tx1"/>
              </a:buClr>
              <a:buNone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hidden="false" id="4" name="">
            <a:extLst>
              <a:ext uri="{E5F2FB5D-841C-48FA-85FD-5BE6202AE6E1}">
                <a16:creationId xmlns:a16="http://schemas.microsoft.com/office/drawing/2010/main" id="{CC197EE4-70D5-4CEA-81D2-EC9FDE2958E4}"/>
              </a:ext>
            </a:extLst>
          </p:cNvPr>
          <p:cNvSpPr txBox="1">
            <a:spLocks noGrp="true"/>
          </p:cNvSpPr>
          <p:nvPr/>
        </p:nvSpPr>
        <p:spPr>
          <a:xfrm rot="0">
            <a:off x="3716607" y="1676400"/>
            <a:ext cx="2952588" cy="1675914"/>
          </a:xfrm>
          <a:prstGeom prst="rect">
            <a:avLst/>
          </a:prstGeom>
          <a:ln w="0">
            <a:noFill/>
            <a:round/>
          </a:ln>
          <a:effectLst/>
        </p:spPr>
        <p:txBody>
          <a:bodyPr anchor="t" bIns="45720" lIns="91440" numCol="1" rIns="91440" rtlCol="0" spcCol="0" tIns="93600">
            <a:noAutofit/>
          </a:bodyPr>
          <a:lstStyle>
            <a:lvl1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•"/>
              <a:defRPr b="0" dirty="0" i="0" lang="en-US" sz="1600">
                <a:solidFill>
                  <a:schemeClr val="tx1"/>
                </a:solidFill>
                <a:latin typeface="Zoho Puvi"/>
              </a:defRPr>
            </a:lvl1pPr>
            <a:lvl2pPr algn="l" indent="-285750" lvl="1" marL="74295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400">
                <a:solidFill>
                  <a:schemeClr val="bg1">
                    <a:lumMod val="50000"/>
                  </a:schemeClr>
                </a:solidFill>
                <a:latin typeface="Zoho Puvi"/>
              </a:defRPr>
            </a:lvl2pPr>
            <a:lvl3pPr algn="l" indent="-228600" lvl="2" marL="11430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200">
                <a:solidFill>
                  <a:schemeClr val="bg1">
                    <a:lumMod val="50000"/>
                  </a:schemeClr>
                </a:solidFill>
                <a:latin typeface="Zoho Puvi"/>
              </a:defRPr>
            </a:lvl3pPr>
            <a:lvl4pPr algn="l" indent="-228600" lvl="3" marL="16002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1000">
                <a:solidFill>
                  <a:schemeClr val="bg1">
                    <a:lumMod val="50000"/>
                  </a:schemeClr>
                </a:solidFill>
                <a:latin typeface="Zoho Puvi"/>
              </a:defRPr>
            </a:lvl4pPr>
            <a:lvl5pPr algn="l" indent="-228600" lvl="4" marL="2057400" rtl="false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Zoho Puvi"/>
              </a:defRPr>
            </a:lvl5pPr>
            <a:lvl6pPr algn="l" indent="-228600" lvl="5" marL="25146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6pPr>
            <a:lvl7pPr algn="l" indent="-228600" lvl="6" marL="29718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7pPr>
            <a:lvl8pPr algn="l" indent="-228600" lvl="7" marL="34290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8pPr>
            <a:lvl9pPr algn="l" indent="-228600" lvl="8" marL="3886200" rtl="false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-"/>
              <a:defRPr b="0" dirty="0" i="0" lang="en-US" sz="900">
                <a:solidFill>
                  <a:schemeClr val="bg1">
                    <a:lumMod val="50000"/>
                  </a:schemeClr>
                </a:solidFill>
                <a:latin typeface="Open Sans"/>
              </a:defRPr>
            </a:lvl9pPr>
          </a:lstStyle>
          <a:p>
            <a:pPr algn="l" indent="-342900" lvl="0" marL="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Noise reduction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Criteria-based alerting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Real-time collaboration</a:t>
            </a:r>
          </a:p>
          <a:p>
            <a:pPr algn="l" indent="-342900" rtl="false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Font typeface="Arial"/>
              <a:buChar char="•"/>
            </a:pPr>
            <a:r>
              <a:rPr b="0" dirty="0" i="0" lang="en-US" sz="1400">
                <a:solidFill>
                  <a:schemeClr val="tx1"/>
                </a:solidFill>
                <a:latin typeface="Zoho Puvi"/>
              </a:rPr>
              <a:t>Role-based access</a:t>
            </a:r>
            <a:endParaRPr b="0" dirty="0" i="0" lang="en-US" sz="1400">
              <a:solidFill>
                <a:schemeClr val="tx1"/>
              </a:solidFill>
              <a:latin typeface="Zoho Puvi"/>
            </a:endParaRPr>
          </a:p>
        </p:txBody>
      </p:sp>
    </p:spTree>
    <p:extLst>
      <p:ext uri="{10500643-AC8D-4065-A33B-1C7C82CE5D5B}">
        <p14:creationId xmlns:p14="http://schemas.microsoft.com/office/powerpoint/2010/main" val="1734962043790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4B67195-F959-4ED8-9C0F-EF1F81A8FB9B}">
                <a16:creationId xmlns:a16="http://schemas.microsoft.com/office/drawing/2010/main" id="{3522ECA3-6353-4F20-965F-EEA13BF9CC3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30045"/>
            <a:ext cx="7620000" cy="857250"/>
          </a:xfrm>
        </p:spPr>
        <p:txBody>
          <a:bodyPr rtlCol="0"/>
          <a:lstStyle/>
          <a:p>
            <a:pPr/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Site24x7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 </a:t>
            </a:r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StatusIQ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</a:t>
            </a:r>
          </a:p>
          <a:p>
            <a:pPr/>
            <a:r>
              <a:rPr b="1" dirty="0" i="0" lang="en-US" sz="1400">
                <a:latin typeface="Zoho Puvi"/>
              </a:rPr>
              <a:t>Status  </a:t>
            </a:r>
            <a:r>
              <a:rPr b="1" dirty="0" i="0" lang="en-US" sz="1400">
                <a:latin typeface="Zoho Puvi"/>
              </a:rPr>
              <a:t>pages for real-time status </a:t>
            </a:r>
            <a:r>
              <a:rPr b="1" dirty="0" i="0" lang="en-US" sz="1400">
                <a:latin typeface="Zoho Puvi"/>
              </a:rPr>
              <a:t>and incident communication</a:t>
            </a:r>
          </a:p>
          <a:p>
            <a:pPr/>
            <a:r>
              <a:rPr b="1" dirty="0" lang="en-US" sz="1400">
                <a:solidFill>
                  <a:schemeClr val="accent6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chemeClr val="accent6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chemeClr val="accent6"/>
                </a:solidFill>
                <a:latin typeface="Zoho Puvi"/>
              </a:rPr>
              <a:t>)</a:t>
            </a:r>
            <a:endParaRPr b="1" dirty="0" lang="en-US" sz="1400">
              <a:solidFill>
                <a:schemeClr val="accent6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01E3C1C0-48D8-414A-A419-5648DA1C7A30}">
                <a16:creationId xmlns:a16="http://schemas.microsoft.com/office/drawing/2010/main" id="{0E94D7F6-9773-4A75-836B-C7FF355AADE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Public status page</a:t>
            </a:r>
            <a:r>
              <a:rPr b="0" dirty="0" lang="en-US" sz="1400">
                <a:latin typeface="Zoho Puvi"/>
              </a:rPr>
              <a:t>s</a:t>
            </a:r>
            <a:r>
              <a:rPr b="0" dirty="0" lang="en-US" sz="1400">
                <a:latin typeface="Zoho Puvi"/>
              </a:rPr>
              <a:t> for transparent communication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Real-time status updates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Incident and m</a:t>
            </a:r>
            <a:r>
              <a:rPr b="0" dirty="0" lang="en-US" sz="1400">
                <a:latin typeface="Zoho Puvi"/>
              </a:rPr>
              <a:t>aintenance notifications for end users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Email and SMS notifications for subscribers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Domain, logo, </a:t>
            </a:r>
            <a:r>
              <a:rPr b="0" dirty="0" lang="en-US" sz="1400">
                <a:latin typeface="Zoho Puvi"/>
              </a:rPr>
              <a:t>and </a:t>
            </a:r>
            <a:r>
              <a:rPr b="0" dirty="0" lang="en-US" sz="1400">
                <a:latin typeface="Zoho Puvi"/>
              </a:rPr>
              <a:t>page customization</a:t>
            </a:r>
            <a:endParaRPr b="0" dirty="0" lang="en-US" sz="1400">
              <a:latin typeface="Zoho Puvi"/>
            </a:endParaRPr>
          </a:p>
        </p:txBody>
      </p:sp>
    </p:spTree>
    <p:extLst>
      <p:ext uri="{E5840C9C-501E-432D-B021-F336BB014571}">
        <p14:creationId xmlns:p14="http://schemas.microsoft.com/office/powerpoint/2010/main" val="1734962043791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6A48603A-5774-4B0A-98B5-A7577CD09157}">
                <a16:creationId xmlns:a16="http://schemas.microsoft.com/office/drawing/2010/main" id="{4C510AFD-F584-418A-AE9C-18A214C738E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257300" y="1904352"/>
            <a:ext cx="2471004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DNS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and </a:t>
            </a:r>
            <a:r>
              <a:rPr b="1" dirty="0" err="1" lang="en-US" sz="2400" u="none">
                <a:solidFill>
                  <a:schemeClr val="tx1"/>
                </a:solidFill>
                <a:latin typeface="Zoho Puvi-heavy"/>
              </a:rPr>
              <a:t>DHCP</a:t>
            </a:r>
            <a:br>
              <a:rPr b="1" dirty="0" lang="en-US" sz="2400" u="none">
                <a:solidFill>
                  <a:schemeClr val="tx1"/>
                </a:solidFill>
                <a:latin typeface="Zoho Puvi-heavy"/>
              </a:rPr>
            </a:br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619F8EDD-46B9-4755-ABCE-71CACE915837}">
                <a16:creationId xmlns:a16="http://schemas.microsoft.com/office/drawing/2010/main" id="{F5CF0170-EAAC-471E-B778-8AE6D0000E15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39802" y="1637938"/>
            <a:ext cx="3061878" cy="1755409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CloudDNS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All-in-one </a:t>
            </a:r>
            <a:r>
              <a:rPr b="0" dirty="0" i="0" lang="en-US" sz="1400">
                <a:latin typeface="Zoho Puvi"/>
              </a:rPr>
              <a:t>DNS</a:t>
            </a:r>
            <a:r>
              <a:rPr b="0" dirty="0" i="0" lang="en-US" sz="1400">
                <a:latin typeface="Zoho Puvi"/>
              </a:rPr>
              <a:t> management service to keep your business online</a:t>
            </a:r>
          </a:p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DDI</a:t>
            </a:r>
            <a:r>
              <a:rPr b="1" dirty="0" i="0" lang="en-US" sz="1400">
                <a:latin typeface="Zoho Puvi"/>
              </a:rPr>
              <a:t> Central: </a:t>
            </a:r>
            <a:r>
              <a:rPr b="0" dirty="0" i="0" lang="en-US" sz="1400">
                <a:latin typeface="Zoho Puvi"/>
              </a:rPr>
              <a:t>Unified </a:t>
            </a:r>
            <a:r>
              <a:rPr b="0" dirty="0" i="0" lang="en-US" sz="1400">
                <a:latin typeface="Zoho Puvi"/>
              </a:rPr>
              <a:t>DNS</a:t>
            </a:r>
            <a:r>
              <a:rPr b="0" dirty="0" i="0" lang="en-US" sz="1400">
                <a:latin typeface="Zoho Puvi"/>
              </a:rPr>
              <a:t>, </a:t>
            </a:r>
            <a:r>
              <a:rPr b="0" dirty="0" err="1" i="0" lang="en-US" sz="1400">
                <a:latin typeface="Zoho Puvi"/>
              </a:rPr>
              <a:t>DHCP</a:t>
            </a:r>
            <a:r>
              <a:rPr b="0" dirty="0" i="0" lang="en-US" sz="1400">
                <a:latin typeface="Zoho Puvi"/>
              </a:rPr>
              <a:t>, and IP address manager</a:t>
            </a:r>
            <a:endParaRPr b="0" dirty="0" i="0" lang="en-US" sz="1400">
              <a:latin typeface="Zoho Puvi"/>
            </a:endParaRPr>
          </a:p>
        </p:txBody>
      </p:sp>
    </p:spTree>
    <p:extLst>
      <p:ext uri="{189B97ED-2F78-4DB3-9F4F-5ED573C9865D}">
        <p14:creationId xmlns:p14="http://schemas.microsoft.com/office/powerpoint/2010/main" val="1734962043792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032EA4E-899E-40CF-97E9-292C2A9E4E46}">
                <a16:creationId xmlns:a16="http://schemas.microsoft.com/office/drawing/2010/main" id="{FFE71019-4270-46A9-BD35-0B32C19B001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CloudDNS</a:t>
            </a:r>
          </a:p>
          <a:p>
            <a:pPr/>
            <a:r>
              <a:rPr b="1" dirty="0" lang="en-US" sz="1400">
                <a:latin typeface="Zoho Puvi"/>
              </a:rPr>
              <a:t>All-in-one </a:t>
            </a:r>
            <a:r>
              <a:rPr b="1" dirty="0" lang="en-US" sz="1400">
                <a:latin typeface="Zoho Puvi"/>
              </a:rPr>
              <a:t>DNS</a:t>
            </a:r>
            <a:r>
              <a:rPr b="1" dirty="0" lang="en-US" sz="1400">
                <a:latin typeface="Zoho Puvi"/>
              </a:rPr>
              <a:t> management service to keep your business online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 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CB81597F-2A1E-4EC3-A2D2-43D91D92AA5F}">
                <a16:creationId xmlns:a16="http://schemas.microsoft.com/office/drawing/2010/main" id="{5C14CA13-BBB9-4C60-8B39-D1C199484A7B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dirty="0" lang="en-US" sz="1400">
                <a:latin typeface="Roboto"/>
              </a:rPr>
              <a:t>‌Points of </a:t>
            </a:r>
            <a:r>
              <a:rPr dirty="0" lang="en-US" sz="1400">
                <a:latin typeface="Roboto"/>
              </a:rPr>
              <a:t>p</a:t>
            </a:r>
            <a:r>
              <a:rPr dirty="0" lang="en-US" sz="1400">
                <a:latin typeface="Roboto"/>
              </a:rPr>
              <a:t>resence</a:t>
            </a:r>
            <a:r>
              <a:rPr dirty="0" lang="en-US" sz="1400">
                <a:latin typeface="Roboto"/>
              </a:rPr>
              <a:t> </a:t>
            </a:r>
            <a:r>
              <a:rPr dirty="0" lang="en-US" sz="1400">
                <a:latin typeface="Roboto"/>
              </a:rPr>
              <a:t>(PoP's) at global vantage points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 failover protection by automatically routing queries to the closest </a:t>
            </a:r>
            <a:r>
              <a:rPr dirty="0" err="1" lang="en-US" sz="1400">
                <a:latin typeface="Roboto"/>
              </a:rPr>
              <a:t>PoP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Robust</a:t>
            </a:r>
            <a:r>
              <a:rPr dirty="0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 network infrastructure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Multiple redundant servers ensuring high availability and performance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Query resolution averaging 30ms</a:t>
            </a:r>
            <a:r>
              <a:rPr dirty="0" lang="en-US" sz="1400">
                <a:latin typeface="Roboto"/>
              </a:rPr>
              <a:t> from anywhere</a:t>
            </a:r>
            <a:r>
              <a:rPr dirty="0" lang="en-US" sz="1400">
                <a:latin typeface="Roboto"/>
              </a:rPr>
              <a:t> around the globe</a:t>
            </a:r>
          </a:p>
          <a:p>
            <a:pPr>
              <a:buClr>
                <a:schemeClr val="tx1"/>
              </a:buClr>
              <a:buChar char="•"/>
            </a:pPr>
            <a:r>
              <a:rPr dirty="0" err="1" lang="en-US" sz="1400">
                <a:latin typeface="Roboto"/>
              </a:rPr>
              <a:t>DNSSEC</a:t>
            </a:r>
            <a:r>
              <a:rPr dirty="0" lang="en-US" sz="1400">
                <a:latin typeface="Roboto"/>
              </a:rPr>
              <a:t> to shield the integrity of </a:t>
            </a: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 responses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Integrated monitoring, </a:t>
            </a:r>
            <a:r>
              <a:rPr dirty="0" lang="en-US" sz="1400">
                <a:latin typeface="Roboto"/>
              </a:rPr>
              <a:t>a </a:t>
            </a:r>
            <a:r>
              <a:rPr dirty="0" lang="en-US" sz="1400">
                <a:latin typeface="Roboto"/>
              </a:rPr>
              <a:t>secondary </a:t>
            </a: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,</a:t>
            </a:r>
            <a:r>
              <a:rPr dirty="0" lang="en-US" sz="1400">
                <a:latin typeface="Roboto"/>
              </a:rPr>
              <a:t> and effective failover strategies</a:t>
            </a:r>
            <a:endParaRPr dirty="0" lang="en-US" sz="1400">
              <a:latin typeface="Roboto"/>
            </a:endParaRPr>
          </a:p>
        </p:txBody>
      </p:sp>
    </p:spTree>
    <p:extLst>
      <p:ext uri="{F9D97747-9653-4389-89A2-F13AE62DD40A}">
        <p14:creationId xmlns:p14="http://schemas.microsoft.com/office/powerpoint/2010/main" val="1734962043793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E4A22CFB-73C3-40CF-A97E-599256A08C8B}">
                <a16:creationId xmlns:a16="http://schemas.microsoft.com/office/drawing/2010/main" id="{6F1C1F4C-7321-46C0-9BEE-C0CD29F5DB5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66800" y="730045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DDI</a:t>
            </a:r>
            <a:r>
              <a:rPr b="1" dirty="0" lang="en-US" sz="2400">
                <a:solidFill>
                  <a:srgbClr val="0070c0"/>
                </a:solidFill>
                <a:latin typeface="Zoho Puvi-heavy"/>
              </a:rPr>
              <a:t> Central</a:t>
            </a:r>
          </a:p>
          <a:p>
            <a:pPr/>
            <a:r>
              <a:rPr b="1" dirty="0" lang="en-US" sz="1400">
                <a:latin typeface="Zoho Puvi"/>
              </a:rPr>
              <a:t>Unified </a:t>
            </a:r>
            <a:r>
              <a:rPr b="1" dirty="0" lang="en-US" sz="1400">
                <a:latin typeface="Zoho Puvi"/>
              </a:rPr>
              <a:t>DNS</a:t>
            </a:r>
            <a:r>
              <a:rPr b="1" dirty="0" lang="en-US" sz="1400">
                <a:latin typeface="Zoho Puvi"/>
              </a:rPr>
              <a:t>, </a:t>
            </a:r>
            <a:r>
              <a:rPr b="1" dirty="0" err="1" lang="en-US" sz="1400">
                <a:latin typeface="Zoho Puvi"/>
              </a:rPr>
              <a:t>DHCP</a:t>
            </a:r>
            <a:r>
              <a:rPr b="1" dirty="0" lang="en-US" sz="1400">
                <a:latin typeface="Zoho Puvi"/>
              </a:rPr>
              <a:t>, and IP address manager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On-premises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r>
              <a:rPr b="1" dirty="0" lang="en-US" sz="1200">
                <a:solidFill>
                  <a:srgbClr val="c1408a"/>
                </a:solidFill>
                <a:latin typeface="Zoho Puvi"/>
              </a:rPr>
              <a:t> </a:t>
            </a:r>
            <a:endParaRPr b="1" dirty="0" lang="en-US" sz="12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2159B412-8B2A-4E81-9322-CB753252F7D1}">
                <a16:creationId xmlns:a16="http://schemas.microsoft.com/office/drawing/2010/main" id="{7BF2E94E-66C1-4A9B-ACA1-E407804346EF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668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dirty="0" lang="en-US" sz="1400">
                <a:latin typeface="Roboto"/>
              </a:rPr>
              <a:t>Centralized management of </a:t>
            </a: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 zones, </a:t>
            </a:r>
            <a:r>
              <a:rPr dirty="0" err="1" lang="en-US" sz="1400">
                <a:latin typeface="Roboto"/>
              </a:rPr>
              <a:t>DHCP</a:t>
            </a:r>
            <a:r>
              <a:rPr dirty="0" lang="en-US" sz="1400">
                <a:latin typeface="Roboto"/>
              </a:rPr>
              <a:t> scopes, and IP addresses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Automated</a:t>
            </a:r>
            <a:r>
              <a:rPr dirty="0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IP</a:t>
            </a:r>
            <a:r>
              <a:rPr dirty="0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assignments</a:t>
            </a:r>
            <a:r>
              <a:rPr dirty="0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with</a:t>
            </a:r>
            <a:r>
              <a:rPr dirty="0" lang="en-US" sz="1400">
                <a:latin typeface="Roboto"/>
              </a:rPr>
              <a:t> DHCP </a:t>
            </a:r>
            <a:r>
              <a:rPr dirty="0" lang="en-US" sz="1400">
                <a:latin typeface="Roboto"/>
              </a:rPr>
              <a:t>fingerprinting</a:t>
            </a:r>
            <a:r>
              <a:rPr dirty="0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policies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Granular query control with query resolution policies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Domain traffic and </a:t>
            </a:r>
            <a:r>
              <a:rPr dirty="0" err="1" lang="en-US" sz="1400">
                <a:latin typeface="Roboto"/>
              </a:rPr>
              <a:t>DHCP</a:t>
            </a:r>
            <a:r>
              <a:rPr dirty="0" lang="en-US" sz="1400">
                <a:latin typeface="Roboto"/>
              </a:rPr>
              <a:t> lease surveillance analytics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Advanced security with </a:t>
            </a:r>
            <a:r>
              <a:rPr dirty="0" err="1" lang="en-US" sz="1400">
                <a:latin typeface="Roboto"/>
              </a:rPr>
              <a:t>DNSSEC</a:t>
            </a:r>
            <a:r>
              <a:rPr dirty="0" lang="en-US" sz="1400">
                <a:latin typeface="Roboto"/>
              </a:rPr>
              <a:t>, </a:t>
            </a:r>
            <a:r>
              <a:rPr dirty="0" lang="en-US" sz="1400">
                <a:latin typeface="Roboto"/>
              </a:rPr>
              <a:t>DNS</a:t>
            </a:r>
            <a:r>
              <a:rPr dirty="0" lang="en-US" sz="1400">
                <a:latin typeface="Roboto"/>
              </a:rPr>
              <a:t> firewalls, and more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Dual-stack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IP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inventory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management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along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with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IP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lease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history</a:t>
            </a:r>
            <a:r>
              <a:rPr dirty="0" err="1" lang="en-US" sz="1400">
                <a:latin typeface="Roboto"/>
              </a:rPr>
              <a:t> </a:t>
            </a:r>
            <a:r>
              <a:rPr dirty="0" lang="en-US" sz="1400">
                <a:latin typeface="Roboto"/>
              </a:rPr>
              <a:t>insights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IP-DNS correlations and IP-MAC identity mapping</a:t>
            </a:r>
          </a:p>
          <a:p>
            <a:pPr>
              <a:buClr>
                <a:schemeClr val="tx1"/>
              </a:buClr>
              <a:buChar char="•"/>
            </a:pPr>
            <a:r>
              <a:rPr dirty="0" lang="en-US" sz="1400">
                <a:latin typeface="Roboto"/>
              </a:rPr>
              <a:t>Built-in failover, auditing, and role-based access controls</a:t>
            </a:r>
            <a:endParaRPr dirty="0" lang="en-US" sz="1400">
              <a:latin typeface="Roboto"/>
            </a:endParaRPr>
          </a:p>
        </p:txBody>
      </p:sp>
    </p:spTree>
    <p:extLst>
      <p:ext uri="{DCB440BC-A2DD-4FEB-BF0F-9A70324512DA}">
        <p14:creationId xmlns:p14="http://schemas.microsoft.com/office/powerpoint/2010/main" val="1734962043794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A965EA6-5DED-47DC-AE73-CD89AE2B975D}">
                <a16:creationId xmlns:a16="http://schemas.microsoft.com/office/drawing/2010/main" id="{A3D2BA08-3769-4FA4-ACA2-F01BCEAB10B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180899" y="2057171"/>
            <a:ext cx="7620000" cy="857250"/>
          </a:xfrm>
          <a:prstGeom prst="rect">
            <a:avLst/>
          </a:prstGeom>
        </p:spPr>
        <p:txBody>
          <a:bodyPr rtlCol="0"/>
          <a:lstStyle/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Cloud cost </a:t>
            </a:r>
          </a:p>
          <a:p>
            <a:pPr/>
            <a:r>
              <a:rPr b="1" dirty="0" lang="en-US" sz="2400" u="none">
                <a:solidFill>
                  <a:schemeClr val="tx1"/>
                </a:solidFill>
                <a:latin typeface="Zoho Puvi-heavy"/>
              </a:rPr>
              <a:t>management</a:t>
            </a:r>
            <a:endParaRPr b="1" dirty="0" lang="en-US" sz="2400" u="none">
              <a:solidFill>
                <a:schemeClr val="tx1"/>
              </a:solidFill>
              <a:latin typeface="Zoho Puvi-heavy"/>
            </a:endParaRPr>
          </a:p>
        </p:txBody>
      </p:sp>
      <p:sp>
        <p:nvSpPr>
          <p:cNvPr id="3" name="Content Placeholder 2">
            <a:extLst>
              <a:ext uri="{A09B00A5-3920-4FCC-B733-03C8045841C4}">
                <a16:creationId xmlns:a16="http://schemas.microsoft.com/office/drawing/2010/main" id="{F7F5D0D0-923D-4B07-8590-EAFA4F4B8762}"/>
              </a:ext>
            </a:extLst>
          </p:cNvPr>
          <p:cNvSpPr>
            <a:spLocks noGrp="true"/>
          </p:cNvSpPr>
          <p:nvPr>
            <p:ph/>
          </p:nvPr>
        </p:nvSpPr>
        <p:spPr>
          <a:xfrm rot="0">
            <a:off x="4422467" y="1657350"/>
            <a:ext cx="3508543" cy="1822056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1" dirty="0" err="1" i="0" lang="en-US" sz="1400">
                <a:latin typeface="Zoho Puvi"/>
              </a:rPr>
              <a:t>CloudSpend</a:t>
            </a:r>
            <a:r>
              <a:rPr b="1" dirty="0" i="0" lang="en-US" sz="1400">
                <a:latin typeface="Zoho Puvi"/>
              </a:rPr>
              <a:t>: </a:t>
            </a:r>
            <a:r>
              <a:rPr b="0" dirty="0" i="0" lang="en-US" sz="1400">
                <a:latin typeface="Zoho Puvi"/>
              </a:rPr>
              <a:t>AI-powered cloud cost </a:t>
            </a:r>
            <a:r>
              <a:rPr b="0" dirty="0" i="0" lang="en-US" sz="1400">
                <a:latin typeface="Zoho Puvi"/>
              </a:rPr>
              <a:t>observability</a:t>
            </a:r>
            <a:r>
              <a:rPr b="0" dirty="0" i="0" lang="en-US" sz="1400">
                <a:latin typeface="Zoho Puvi"/>
              </a:rPr>
              <a:t> for modern businesses</a:t>
            </a:r>
            <a:endParaRPr b="0" dirty="0" i="0" lang="en-US" sz="1400">
              <a:latin typeface="Zoho Puvi"/>
            </a:endParaRPr>
          </a:p>
        </p:txBody>
      </p:sp>
    </p:spTree>
    <p:extLst>
      <p:ext uri="{C2DCCC7E-750C-42BB-937B-C1A31D52AE7F}">
        <p14:creationId xmlns:p14="http://schemas.microsoft.com/office/powerpoint/2010/main" val="1734962043795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BAAD02C-9766-4032-B440-5BF64C0BA5A9}">
                <a16:creationId xmlns:a16="http://schemas.microsoft.com/office/drawing/2010/main" id="{3FA66E73-3815-4668-9B81-B36533D8F12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034053" y="738940"/>
            <a:ext cx="7620000" cy="857250"/>
          </a:xfrm>
        </p:spPr>
        <p:txBody>
          <a:bodyPr rtlCol="0"/>
          <a:lstStyle/>
          <a:p>
            <a:pPr/>
            <a:r>
              <a:rPr b="1" dirty="0" err="1" lang="en-US" sz="2400">
                <a:solidFill>
                  <a:srgbClr val="0070c0"/>
                </a:solidFill>
                <a:latin typeface="Zoho Puvi-heavy"/>
              </a:rPr>
              <a:t>CloudSpend</a:t>
            </a:r>
          </a:p>
          <a:p>
            <a:pPr/>
            <a:r>
              <a:rPr b="1" dirty="0" i="0" lang="en-US" sz="1400">
                <a:latin typeface="Zoho Puvi"/>
              </a:rPr>
              <a:t>AI-powered cloud cost observability for modern businesses</a:t>
            </a:r>
          </a:p>
          <a:p>
            <a:pPr/>
            <a:r>
              <a:rPr b="1" dirty="0" lang="en-US" sz="1400">
                <a:solidFill>
                  <a:srgbClr val="c1408a"/>
                </a:solidFill>
                <a:latin typeface="Zoho Puvi"/>
              </a:rPr>
              <a:t>(</a:t>
            </a:r>
            <a:r>
              <a:rPr b="1" dirty="0" lang="en-US" sz="1400">
                <a:solidFill>
                  <a:srgbClr val="c1408a"/>
                </a:solidFill>
                <a:latin typeface="Zoho Puvi"/>
                <a:hlinkClick r:id="rId2"/>
              </a:rPr>
              <a:t>Cloud</a:t>
            </a:r>
            <a:r>
              <a:rPr b="1" dirty="0" lang="en-US" sz="1400">
                <a:solidFill>
                  <a:srgbClr val="c1408a"/>
                </a:solidFill>
                <a:latin typeface="Zoho Puvi"/>
              </a:rPr>
              <a:t>)</a:t>
            </a:r>
            <a:endParaRPr b="1" dirty="0" lang="en-US" sz="1400">
              <a:solidFill>
                <a:srgbClr val="c1408a"/>
              </a:solidFill>
              <a:latin typeface="Zoho Puvi"/>
            </a:endParaRPr>
          </a:p>
        </p:txBody>
      </p:sp>
      <p:sp>
        <p:nvSpPr>
          <p:cNvPr id="3" name="Content Placeholder 2">
            <a:extLst>
              <a:ext uri="{C75B99E0-B42F-4685-9DB6-9C090F626756}">
                <a16:creationId xmlns:a16="http://schemas.microsoft.com/office/drawing/2010/main" id="{09369EA5-F5BA-462E-B66B-9A410EC4B5D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1028700" y="1581150"/>
            <a:ext cx="7620000" cy="3048000"/>
          </a:xfrm>
        </p:spPr>
        <p:txBody>
          <a:bodyPr rtlCol="0"/>
          <a:lstStyle/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Cost </a:t>
            </a:r>
            <a:r>
              <a:rPr b="0" dirty="0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nalytics for</a:t>
            </a:r>
            <a:r>
              <a:rPr b="0" dirty="0" lang="en-US" sz="1400">
                <a:latin typeface="Zoho Puvi"/>
              </a:rPr>
              <a:t> AWS 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Spend </a:t>
            </a:r>
            <a:r>
              <a:rPr b="0" dirty="0" lang="en-US" sz="1400">
                <a:latin typeface="Zoho Puvi"/>
              </a:rPr>
              <a:t>a</a:t>
            </a:r>
            <a:r>
              <a:rPr b="0" dirty="0" lang="en-US" sz="1400">
                <a:latin typeface="Zoho Puvi"/>
              </a:rPr>
              <a:t>nalysis</a:t>
            </a:r>
          </a:p>
          <a:p>
            <a:pPr>
              <a:buClr>
                <a:schemeClr val="tx1"/>
              </a:buClr>
              <a:buChar char="•"/>
            </a:pPr>
            <a:r>
              <a:rPr b="0" dirty="0" lang="en-US" sz="1400">
                <a:latin typeface="Zoho Puvi"/>
              </a:rPr>
              <a:t>Spending based on business unit</a:t>
            </a:r>
          </a:p>
          <a:p>
            <a:pPr>
              <a:buClr>
                <a:schemeClr val="tx1"/>
              </a:buClr>
            </a:pPr>
            <a:r>
              <a:rPr b="0" dirty="0" lang="en-US" sz="1400">
                <a:latin typeface="Zoho Puvi"/>
              </a:rPr>
              <a:t>Budget control</a:t>
            </a:r>
            <a:endParaRPr b="0" dirty="0" lang="en-US" sz="1400">
              <a:latin typeface="Zoho Puvi"/>
            </a:endParaRPr>
          </a:p>
        </p:txBody>
      </p:sp>
    </p:spTree>
    <p:extLst>
      <p:ext uri="{D3193311-6434-4CE6-BC3F-404E3EE63CF3}">
        <p14:creationId xmlns:p14="http://schemas.microsoft.com/office/powerpoint/2010/main" val="1734962043796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EEA356F6-8849-45EE-852D-B8C54296D933}">
                <a16:creationId xmlns:a16="http://schemas.microsoft.com/office/drawing/2010/main" id="{64103CB0-615C-4553-B4D2-F0E1A3A74044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0" l="3598" r="3598" t="0"/>
          <a:stretch>
            <a:fillRect/>
          </a:stretch>
        </p:blipFill>
        <p:spPr>
          <a:xfrm flipH="false" flipV="false" rot="0">
            <a:off x="854954" y="467163"/>
            <a:ext cx="8309276" cy="4673965"/>
          </a:xfrm>
          <a:prstGeom prst="rect">
            <a:avLst/>
          </a:prstGeom>
          <a:noFill/>
        </p:spPr>
      </p:pic>
      <p:pic>
        <p:nvPicPr>
          <p:cNvPr id="3" name="">
            <a:extLst>
              <a:ext uri="{97A058BC-CE75-4716-82B6-EFD252328074}">
                <a16:creationId xmlns:a16="http://schemas.microsoft.com/office/drawing/2010/main" id="{BCC02F28-BC97-4227-9845-166E5569AB15}"/>
              </a:ext>
            </a:extLst>
          </p:cNvPr>
          <p:cNvPicPr>
            <a:picLocks noChangeAspect="true"/>
          </p:cNvPicPr>
          <p:nvPr/>
        </p:nvPicPr>
        <p:blipFill>
          <a:blip r:embed="rId3"/>
          <a:srcRect b="-512" l="0" r="0" t="-512"/>
          <a:stretch>
            <a:fillRect/>
          </a:stretch>
        </p:blipFill>
        <p:spPr>
          <a:xfrm flipH="false" flipV="false" rot="0">
            <a:off x="151771" y="1410138"/>
            <a:ext cx="2461117" cy="438340"/>
          </a:xfrm>
          <a:prstGeom prst="rect">
            <a:avLst/>
          </a:prstGeom>
          <a:noFill/>
        </p:spPr>
      </p:pic>
      <p:sp>
        <p:nvSpPr>
          <p:cNvPr id="4" name="">
            <a:extLst>
              <a:ext uri="{B26CA08B-A707-4D20-8147-7E8D34B56DC4}">
                <a16:creationId xmlns:a16="http://schemas.microsoft.com/office/drawing/2010/main" id="{720E0D13-A7CC-446D-8F4C-215ACA5E3E1D}"/>
              </a:ext>
            </a:extLst>
          </p:cNvPr>
          <p:cNvSpPr txBox="1"/>
          <p:nvPr/>
        </p:nvSpPr>
        <p:spPr>
          <a:xfrm flipH="false" flipV="false" rot="0">
            <a:off x="151771" y="1890588"/>
            <a:ext cx="2461117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>
                <a:latin typeface="Open Sans-demi_bold"/>
              </a:rPr>
              <a:t>www</a:t>
            </a:r>
            <a:r>
              <a:rPr dirty="0" lang="en-US">
                <a:latin typeface="Open Sans-demi_bold"/>
              </a:rPr>
              <a:t>.manageengine.com</a:t>
            </a:r>
            <a:endParaRPr dirty="0" lang="en-US">
              <a:latin typeface="Open Sans-demi_bold"/>
            </a:endParaRPr>
          </a:p>
        </p:txBody>
      </p:sp>
    </p:spTree>
    <p:extLst>
      <p:ext uri="{E9F27E30-6BDB-4425-89E8-1EBBE150BD95}">
        <p14:creationId xmlns:p14="http://schemas.microsoft.com/office/powerpoint/2010/main" val="1734962043797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3" val="Zoho Puvi-heavy"/>
  <p:tag name="webfont6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2024-11-13T02:13:01Z</dcterms:created>
  <dcterms:modified xsi:type="dcterms:W3CDTF">2024-11-13T02:34:30Z</dcterms:modified>
</cp:coreProperties>
</file>